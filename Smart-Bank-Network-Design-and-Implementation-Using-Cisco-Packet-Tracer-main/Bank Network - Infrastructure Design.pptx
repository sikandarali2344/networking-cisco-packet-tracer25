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embedTrueTypeFonts="1" saveSubsetFonts="1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y="10287000" cx="18288000"/>
  <p:notesSz cx="6858000" cy="9144000"/>
  <p:embeddedFontLst>
    <p:embeddedFont>
      <p:font typeface="Russo One" panose="02000503050000020004" charset="1"/>
      <p:regular r:id="rId32"/>
    </p:embeddedFont>
    <p:embeddedFont>
      <p:font typeface="Inter" panose="020B0502030000000004" charset="1"/>
      <p:regular r:id="rId33"/>
    </p:embeddedFont>
    <p:embeddedFont>
      <p:font typeface="Poppins Medium" panose="00000600000000000000" charset="1"/>
      <p:regular r:id="rId34"/>
    </p:embeddedFont>
    <p:embeddedFont>
      <p:font typeface="Anton" panose="00000500000000000000" charset="1"/>
      <p:regular r:id="rId35"/>
    </p:embeddedFont>
    <p:embeddedFont>
      <p:font typeface="Poppins" panose="00000500000000000000" charset="1"/>
      <p:regular r:id="rId36"/>
    </p:embeddedFont>
  </p:embeddedFontLst>
  <p:defaultTextStyle>
    <a:defPPr>
      <a:defRPr lang="en-US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rgbClr val="000000"/>
        </a:fontRef>
        <a:srgbClr val="000000"/>
      </a:tcTxStyle>
      <a:tcStyle>
        <a:tcBdr>
          <a:left>
            <a:ln w="12700" cmpd="sng">
              <a:solidFill>
                <a:srgbClr val="000000"/>
              </a:solidFill>
            </a:ln>
          </a:left>
          <a:right>
            <a:ln w="12700" cmpd="sng">
              <a:solidFill>
                <a:srgbClr val="000000"/>
              </a:solidFill>
            </a:ln>
          </a:right>
          <a:top>
            <a:ln w="12700" cmpd="sng">
              <a:solidFill>
                <a:srgbClr val="000000"/>
              </a:solidFill>
            </a:ln>
          </a:top>
          <a:bottom>
            <a:ln w="12700" cmpd="sng">
              <a:solidFill>
                <a:srgbClr val="000000"/>
              </a:solidFill>
            </a:ln>
          </a:bottom>
          <a:insideH>
            <a:ln w="12700" cmpd="sng">
              <a:solidFill>
                <a:srgbClr val="000000"/>
              </a:solidFill>
            </a:ln>
          </a:insideH>
          <a:insideV>
            <a:ln w="12700" cmpd="sng">
              <a:solidFill>
                <a:srgbClr val="000000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font" Target="fonts/font1.fntdata"/><Relationship Id="rId33" Type="http://schemas.openxmlformats.org/officeDocument/2006/relationships/font" Target="fonts/font2.fntdata"/><Relationship Id="rId34" Type="http://schemas.openxmlformats.org/officeDocument/2006/relationships/font" Target="fonts/font3.fntdata"/><Relationship Id="rId35" Type="http://schemas.openxmlformats.org/officeDocument/2006/relationships/font" Target="fonts/font4.fntdata"/><Relationship Id="rId36" Type="http://schemas.openxmlformats.org/officeDocument/2006/relationships/font" Target="fonts/font5.fntdata"/><Relationship Id="rId37" Type="http://schemas.openxmlformats.org/officeDocument/2006/relationships/tableStyles" Target="tableStyles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0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7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58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759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760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761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0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4870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70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0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9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17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1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71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2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9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3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3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73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3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9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38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39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4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74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4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1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44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rmAutofit fontScale="95833" lnSpcReduction="20000"/>
          </a:bodyPr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45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4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rmAutofit fontScale="95833" lnSpcReduction="20000"/>
          </a:bodyPr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47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4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74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5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08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709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1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58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1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1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52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53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5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75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5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1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22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723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2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72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2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28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2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73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3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1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12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1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71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1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4" Type="http://schemas.openxmlformats.org/officeDocument/2006/relationships/slideLayout" Target="../slideLayouts/slideLayout7.xml"/><Relationship Id="rId5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jpeg"/><Relationship Id="rId5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1.jpg"/><Relationship Id="rId5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2.jpg"/><Relationship Id="rId5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3.jpg"/><Relationship Id="rId5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4.jpeg"/><Relationship Id="rId5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5.jpeg"/><Relationship Id="rId5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image" Target="../media/image17.jpg"/><Relationship Id="rId3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8.jpeg"/><Relationship Id="rId2" Type="http://schemas.openxmlformats.org/officeDocument/2006/relationships/image" Target="../media/image19.jpg"/><Relationship Id="rId3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jpeg"/><Relationship Id="rId2" Type="http://schemas.openxmlformats.org/officeDocument/2006/relationships/image" Target="../media/image21.jpeg"/><Relationship Id="rId3" Type="http://schemas.openxmlformats.org/officeDocument/2006/relationships/image" Target="../media/image22.jpeg"/><Relationship Id="rId4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23.jpeg"/><Relationship Id="rId2" Type="http://schemas.openxmlformats.org/officeDocument/2006/relationships/image" Target="../media/image24.jpeg"/><Relationship Id="rId3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25.jpeg"/><Relationship Id="rId2" Type="http://schemas.openxmlformats.org/officeDocument/2006/relationships/image" Target="../media/image26.png"/><Relationship Id="rId3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27.jpeg"/><Relationship Id="rId2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28.jpeg"/><Relationship Id="rId2" Type="http://schemas.openxmlformats.org/officeDocument/2006/relationships/image" Target="../media/image29.jpeg"/><Relationship Id="rId3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30.jpeg"/><Relationship Id="rId2" Type="http://schemas.openxmlformats.org/officeDocument/2006/relationships/image" Target="../media/image31.jpeg"/><Relationship Id="rId3" Type="http://schemas.openxmlformats.org/officeDocument/2006/relationships/image" Target="../media/image32.jpeg"/><Relationship Id="rId4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33.jpeg"/><Relationship Id="rId2" Type="http://schemas.openxmlformats.org/officeDocument/2006/relationships/image" Target="../media/image34.jpeg"/><Relationship Id="rId3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35.jpeg"/><Relationship Id="rId5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36.jpeg"/><Relationship Id="rId2" Type="http://schemas.openxmlformats.org/officeDocument/2006/relationships/image" Target="../media/image37.jpg"/><Relationship Id="rId3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38.jpeg"/><Relationship Id="rId2" Type="http://schemas.openxmlformats.org/officeDocument/2006/relationships/image" Target="../media/image39.jpeg"/><Relationship Id="rId3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40.jpeg"/><Relationship Id="rId2" Type="http://schemas.openxmlformats.org/officeDocument/2006/relationships/image" Target="../media/image41.jpeg"/><Relationship Id="rId3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42.jpeg"/><Relationship Id="rId2" Type="http://schemas.openxmlformats.org/officeDocument/2006/relationships/image" Target="../media/image43.jpg"/><Relationship Id="rId3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44.jpeg"/><Relationship Id="rId2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45.jpeg"/><Relationship Id="rId5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46.jpeg"/><Relationship Id="rId2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46.jpeg"/><Relationship Id="rId2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Freeform 2"/>
          <p:cNvSpPr/>
          <p:nvPr/>
        </p:nvSpPr>
        <p:spPr>
          <a:xfrm rot="0" flipH="0" flipV="0">
            <a:off x="0" y="0"/>
            <a:ext cx="18288000" cy="10287000"/>
          </a:xfrm>
          <a:custGeom>
            <a:avLst/>
            <a:ah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 l="-3552" t="0" r="0" b="-9304"/>
            </a:stretch>
          </a:blipFill>
        </p:spPr>
      </p:sp>
      <p:sp>
        <p:nvSpPr>
          <p:cNvPr id="1048596" name="TextBox 3"/>
          <p:cNvSpPr txBox="1"/>
          <p:nvPr/>
        </p:nvSpPr>
        <p:spPr>
          <a:xfrm rot="0">
            <a:off x="2999593" y="1192240"/>
            <a:ext cx="12288814" cy="1309878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10416"/>
              </a:lnSpc>
            </a:pPr>
            <a:r>
              <a:rPr sz="84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Bank Network</a:t>
            </a:r>
          </a:p>
        </p:txBody>
      </p:sp>
      <p:sp>
        <p:nvSpPr>
          <p:cNvPr id="1048597" name="TextBox 4"/>
          <p:cNvSpPr txBox="1"/>
          <p:nvPr/>
        </p:nvSpPr>
        <p:spPr>
          <a:xfrm rot="0">
            <a:off x="2999593" y="2874449"/>
            <a:ext cx="12288814" cy="664464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5208"/>
              </a:lnSpc>
            </a:pPr>
            <a:r>
              <a:rPr sz="4200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Infrastructure Design &amp; Implementation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4" name="Freeform 2"/>
          <p:cNvSpPr/>
          <p:nvPr/>
        </p:nvSpPr>
        <p:spPr>
          <a:xfrm rot="0" flipH="0" flipV="0">
            <a:off x="0" y="0"/>
            <a:ext cx="18288000" cy="10287000"/>
          </a:xfrm>
          <a:custGeom>
            <a:avLst/>
            <a:ah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 l="0" t="-9259" r="0" b="-9259"/>
            </a:stretch>
          </a:blipFill>
        </p:spPr>
      </p:sp>
      <p:sp>
        <p:nvSpPr>
          <p:cNvPr id="1048585" name="Rounded Rectangle 1048584"/>
          <p:cNvSpPr/>
          <p:nvPr/>
        </p:nvSpPr>
        <p:spPr>
          <a:xfrm>
            <a:off x="502920" y="502920"/>
            <a:ext cx="10607040" cy="9281160"/>
          </a:xfrm>
          <a:prstGeom prst="roundRect">
            <a:avLst>
              <a:gd name="adj" fmla="val 3000"/>
            </a:avLst>
          </a:prstGeom>
          <a:solidFill>
            <a:srgbClr val="001428"/>
            <a:alpha val="4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48586" name="Picture 104858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75720" y="502920"/>
            <a:ext cx="6309360" cy="3749039"/>
          </a:xfrm>
          <a:prstGeom prst="rect">
            <a:avLst/>
          </a:prstGeom>
        </p:spPr>
      </p:pic>
      <p:sp>
        <p:nvSpPr>
          <p:cNvPr id="1048587" name="TextBox 1048586"/>
          <p:cNvSpPr txBox="1"/>
          <p:nvPr/>
        </p:nvSpPr>
        <p:spPr>
          <a:xfrm>
            <a:off x="1005840" y="914400"/>
            <a:ext cx="9601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FFFFFF"/>
                </a:solidFill>
                <a:latin typeface="Calibri"/>
              </a:rPr>
              <a:t>Bank Network</a:t>
            </a:r>
          </a:p>
        </p:txBody>
      </p:sp>
      <p:sp>
        <p:nvSpPr>
          <p:cNvPr id="1048588" name="TextBox 1048587"/>
          <p:cNvSpPr txBox="1"/>
          <p:nvPr/>
        </p:nvSpPr>
        <p:spPr>
          <a:xfrm>
            <a:off x="1051560" y="19659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6EC6FF"/>
                </a:solidFill>
                <a:latin typeface="Calibri"/>
              </a:rPr>
              <a:t>Infrastructure Design &amp; Implementation</a:t>
            </a:r>
          </a:p>
        </p:txBody>
      </p:sp>
      <p:sp>
        <p:nvSpPr>
          <p:cNvPr id="1048589" name="Oval 1048588"/>
          <p:cNvSpPr/>
          <p:nvPr/>
        </p:nvSpPr>
        <p:spPr>
          <a:xfrm>
            <a:off x="1051560" y="3355848"/>
            <a:ext cx="146304" cy="146304"/>
          </a:xfrm>
          <a:prstGeom prst="ellipse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590" name="TextBox 1048589"/>
          <p:cNvSpPr txBox="1"/>
          <p:nvPr/>
        </p:nvSpPr>
        <p:spPr>
          <a:xfrm>
            <a:off x="1371600" y="32461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FFFFFF"/>
                </a:solidFill>
                <a:latin typeface="Calibri"/>
              </a:rPr>
              <a:t>Project Designed &amp; Developed By : </a:t>
            </a:r>
            <a:r>
              <a:rPr sz="1900" b="0">
                <a:solidFill>
                  <a:srgbClr val="C7D8EA"/>
                </a:solidFill>
                <a:latin typeface="Calibri"/>
              </a:rPr>
              <a:t>Sikandar Ali</a:t>
            </a:r>
          </a:p>
        </p:txBody>
      </p:sp>
      <p:sp>
        <p:nvSpPr>
          <p:cNvPr id="1048591" name="Oval 1048590"/>
          <p:cNvSpPr/>
          <p:nvPr/>
        </p:nvSpPr>
        <p:spPr>
          <a:xfrm>
            <a:off x="1051560" y="4361688"/>
            <a:ext cx="146304" cy="146304"/>
          </a:xfrm>
          <a:prstGeom prst="ellipse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592" name="TextBox 1048591"/>
          <p:cNvSpPr txBox="1"/>
          <p:nvPr/>
        </p:nvSpPr>
        <p:spPr>
          <a:xfrm>
            <a:off x="1371600" y="425196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FFFFFF"/>
                </a:solidFill>
                <a:latin typeface="Calibri"/>
              </a:rPr>
              <a:t>Presented By : </a:t>
            </a:r>
            <a:r>
              <a:rPr sz="1900" b="0">
                <a:solidFill>
                  <a:srgbClr val="C7D8EA"/>
                </a:solidFill>
                <a:latin typeface="Calibri"/>
              </a:rPr>
              <a:t>23BCS44</a:t>
            </a:r>
          </a:p>
        </p:txBody>
      </p:sp>
      <p:sp>
        <p:nvSpPr>
          <p:cNvPr id="1048593" name="Oval 1048592"/>
          <p:cNvSpPr/>
          <p:nvPr/>
        </p:nvSpPr>
        <p:spPr>
          <a:xfrm>
            <a:off x="1051560" y="5367528"/>
            <a:ext cx="146304" cy="146304"/>
          </a:xfrm>
          <a:prstGeom prst="ellipse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594" name="TextBox 1048593"/>
          <p:cNvSpPr txBox="1"/>
          <p:nvPr/>
        </p:nvSpPr>
        <p:spPr>
          <a:xfrm>
            <a:off x="1371600" y="52578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FFFFFF"/>
                </a:solidFill>
                <a:latin typeface="Calibri"/>
              </a:rPr>
              <a:t>Department : </a:t>
            </a:r>
            <a:r>
              <a:rPr sz="1900" b="0">
                <a:solidFill>
                  <a:srgbClr val="C7D8EA"/>
                </a:solidFill>
                <a:latin typeface="Calibri"/>
              </a:rPr>
              <a:t>Computer Science</a:t>
            </a:r>
          </a:p>
        </p:txBody>
      </p:sp>
      <p:sp>
        <p:nvSpPr>
          <p:cNvPr id="1048595" name="Oval 1048594"/>
          <p:cNvSpPr/>
          <p:nvPr/>
        </p:nvSpPr>
        <p:spPr>
          <a:xfrm>
            <a:off x="1051560" y="6373368"/>
            <a:ext cx="146304" cy="146304"/>
          </a:xfrm>
          <a:prstGeom prst="ellipse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596" name="TextBox 1048595"/>
          <p:cNvSpPr txBox="1"/>
          <p:nvPr/>
        </p:nvSpPr>
        <p:spPr>
          <a:xfrm>
            <a:off x="1371600" y="626364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FFFFFF"/>
                </a:solidFill>
                <a:latin typeface="Calibri"/>
              </a:rPr>
              <a:t>University : </a:t>
            </a:r>
            <a:r>
              <a:rPr sz="1900" b="0">
                <a:solidFill>
                  <a:srgbClr val="C7D8EA"/>
                </a:solidFill>
                <a:latin typeface="Calibri"/>
              </a:rPr>
              <a:t>Quaid-e-Awam University of Engineering, Science and Technology, Nawabshah</a:t>
            </a:r>
          </a:p>
        </p:txBody>
      </p:sp>
      <p:sp>
        <p:nvSpPr>
          <p:cNvPr id="1048597" name="Oval 1048596"/>
          <p:cNvSpPr/>
          <p:nvPr/>
        </p:nvSpPr>
        <p:spPr>
          <a:xfrm>
            <a:off x="1051560" y="7744967"/>
            <a:ext cx="146304" cy="146304"/>
          </a:xfrm>
          <a:prstGeom prst="ellipse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598" name="TextBox 1048597"/>
          <p:cNvSpPr txBox="1"/>
          <p:nvPr/>
        </p:nvSpPr>
        <p:spPr>
          <a:xfrm>
            <a:off x="1371600" y="7635240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FFFFFF"/>
                </a:solidFill>
                <a:latin typeface="Calibri"/>
              </a:rPr>
              <a:t>Project Supervised By : </a:t>
            </a:r>
            <a:r>
              <a:rPr sz="1900" b="0">
                <a:solidFill>
                  <a:srgbClr val="C7D8EA"/>
                </a:solidFill>
                <a:latin typeface="Calibri"/>
              </a:rPr>
              <a:t>Ms. Sana Arain (Project Instructor)</a:t>
            </a:r>
          </a:p>
        </p:txBody>
      </p:sp>
    </p:spTree>
  </p:cSld>
  <p:clrMapOvr>
    <a:masterClrMapping/>
  </p:clrMapOvr>
  <p:transition spd="slow">
    <p:push dir="l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0" name="Freeform 2"/>
          <p:cNvSpPr/>
          <p:nvPr/>
        </p:nvSpPr>
        <p:spPr>
          <a:xfrm rot="0" flipH="1" flipV="0">
            <a:off x="0" y="0"/>
            <a:ext cx="18288000" cy="10287000"/>
          </a:xfrm>
          <a:custGeom>
            <a:avLst/>
            <a:ah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 l="0" t="-9259" r="0" b="-9259"/>
            </a:stretch>
          </a:blipFill>
        </p:spPr>
      </p:sp>
      <p:grpSp>
        <p:nvGrpSpPr>
          <p:cNvPr id="47" name="Group 3"/>
          <p:cNvGrpSpPr/>
          <p:nvPr/>
        </p:nvGrpSpPr>
        <p:grpSpPr>
          <a:xfrm rot="0">
            <a:off x="-521927" y="-614133"/>
            <a:ext cx="18958771" cy="11134390"/>
            <a:chOff x="0" y="0"/>
            <a:chExt cx="4816593" cy="2709333"/>
          </a:xfrm>
        </p:grpSpPr>
        <p:sp>
          <p:nvSpPr>
            <p:cNvPr id="1048591" name="Freeform 4"/>
            <p:cNvSpPr/>
            <p:nvPr/>
          </p:nvSpPr>
          <p:spPr>
            <a:xfrm rot="0" flipH="0" flipV="0">
              <a:off x="0" y="0"/>
              <a:ext cx="4816592" cy="2709333"/>
            </a:xfrm>
            <a:custGeom>
              <a:avLst/>
              <a:ah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1E44">
                <a:alpha val="60000"/>
              </a:srgbClr>
            </a:solidFill>
          </p:spPr>
        </p:sp>
        <p:sp>
          <p:nvSpPr>
            <p:cNvPr id="1048592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id="1048593" name="TextBox 8"/>
          <p:cNvSpPr txBox="1"/>
          <p:nvPr/>
        </p:nvSpPr>
        <p:spPr>
          <a:xfrm rot="0">
            <a:off x="2142187" y="381600"/>
            <a:ext cx="8220155" cy="1133857"/>
          </a:xfrm>
          <a:prstGeom prst="rect"/>
        </p:spPr>
        <p:txBody>
          <a:bodyPr anchor="t" bIns="0" lIns="0" rIns="0" rtlCol="0" tIns="0">
            <a:spAutoFit/>
          </a:bodyPr>
          <a:lstStyle>
            <a:defPPr>
              <a:defRPr lang="en-US"/>
            </a:defPPr>
            <a:lvl1pPr algn="l" defTabSz="914400" eaLnBrk="1" hangingPunct="1" latinLnBrk="0" marL="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8928"/>
              </a:lnSpc>
            </a:pPr>
            <a:r>
              <a:rPr sz="72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Contents</a:t>
            </a:r>
          </a:p>
        </p:txBody>
      </p:sp>
      <p:sp>
        <p:nvSpPr>
          <p:cNvPr id="1048594" name="TextBox 9"/>
          <p:cNvSpPr txBox="1"/>
          <p:nvPr/>
        </p:nvSpPr>
        <p:spPr>
          <a:xfrm rot="0" flipH="0" flipV="0">
            <a:off x="3865621" y="1686402"/>
            <a:ext cx="10556754" cy="8532494"/>
          </a:xfrm>
          <a:prstGeom prst="rect"/>
        </p:spPr>
        <p:txBody>
          <a:bodyPr anchor="t" bIns="0" lIns="0" rIns="0" rtlCol="0" tIns="0">
            <a:spAutoFit/>
          </a:bodyPr>
          <a:lstStyle>
            <a:defPPr>
              <a:defRPr lang="en-US"/>
            </a:defPPr>
            <a:lvl1pPr algn="l" defTabSz="914400" eaLnBrk="1" hangingPunct="1" latinLnBrk="0" marL="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indent="-345439" lvl="1" marL="690877">
              <a:lnSpc>
                <a:spcPts val="4479"/>
              </a:lnSpc>
              <a:buFont typeface="Arial"/>
              <a:buChar char="•"/>
            </a:pP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1. Introduction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ry</a:t>
            </a:r>
            <a:endParaRPr altLang="en-US" lang="zh-CN"/>
          </a:p>
          <a:p>
            <a:pPr algn="l" indent="-345439" lvl="1" marL="690877">
              <a:lnSpc>
                <a:spcPts val="4479"/>
              </a:lnSpc>
              <a:buFont typeface="Arial"/>
              <a:buChar char="•"/>
            </a:pP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2. Project Overview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Q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/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y</a:t>
            </a:r>
            <a:endParaRPr altLang="en-US" lang="zh-CN"/>
          </a:p>
          <a:p>
            <a:pPr algn="l" indent="-345439" lvl="1" marL="690877">
              <a:lnSpc>
                <a:spcPts val="4479"/>
              </a:lnSpc>
              <a:buFont typeface="Arial"/>
              <a:buChar char="•"/>
            </a:pP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3. Project Objectives</a:t>
            </a:r>
          </a:p>
          <a:p>
            <a:pPr algn="l" indent="-345439" lvl="1" marL="690877">
              <a:lnSpc>
                <a:spcPts val="4479"/>
              </a:lnSpc>
              <a:buFont typeface="Arial"/>
              <a:buChar char="•"/>
            </a:pP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4. Network Topology</a:t>
            </a:r>
          </a:p>
          <a:p>
            <a:pPr algn="l" indent="-345439" lvl="1" marL="690877">
              <a:lnSpc>
                <a:spcPts val="4479"/>
              </a:lnSpc>
              <a:buFont typeface="Arial"/>
              <a:buChar char="•"/>
            </a:pP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5. Branch Addressing Scheme</a:t>
            </a:r>
          </a:p>
          <a:p>
            <a:pPr algn="l" indent="-345439" lvl="1" marL="690877">
              <a:lnSpc>
                <a:spcPts val="4479"/>
              </a:lnSpc>
              <a:buFont typeface="Arial"/>
              <a:buChar char="•"/>
            </a:pP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6. DHCP Services</a:t>
            </a:r>
          </a:p>
          <a:p>
            <a:pPr algn="l" indent="-345439" lvl="1" marL="690877">
              <a:lnSpc>
                <a:spcPts val="4479"/>
              </a:lnSpc>
              <a:buFont typeface="Arial"/>
              <a:buChar char="•"/>
            </a:pP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7. DNS Server</a:t>
            </a:r>
          </a:p>
          <a:p>
            <a:pPr algn="l" indent="-345439" lvl="1" marL="690877">
              <a:lnSpc>
                <a:spcPts val="4479"/>
              </a:lnSpc>
              <a:buFont typeface="Arial"/>
              <a:buChar char="•"/>
            </a:pP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8. Email Infrastructure</a:t>
            </a:r>
          </a:p>
          <a:p>
            <a:pPr algn="l" indent="-345439" lvl="1" marL="690877">
              <a:lnSpc>
                <a:spcPts val="4479"/>
              </a:lnSpc>
              <a:buFont typeface="Arial"/>
              <a:buChar char="•"/>
            </a:pP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9. Wireless Infrastructure</a:t>
            </a:r>
          </a:p>
          <a:p>
            <a:pPr algn="l" indent="-345439" lvl="1" marL="690877">
              <a:lnSpc>
                <a:spcPts val="4479"/>
              </a:lnSpc>
              <a:buFont typeface="Arial"/>
              <a:buChar char="•"/>
            </a:pP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10. 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rity 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features </a:t>
            </a:r>
            <a:endParaRPr altLang="en-US" lang="zh-CN"/>
          </a:p>
          <a:p>
            <a:pPr algn="l" indent="-345439" lvl="1" marL="690877">
              <a:lnSpc>
                <a:spcPts val="4479"/>
              </a:lnSpc>
              <a:buFont typeface="Arial"/>
              <a:buChar char="•"/>
            </a:pP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11. Dynamic Routing using EIGRP</a:t>
            </a:r>
          </a:p>
          <a:p>
            <a:pPr algn="l" indent="-345439" lvl="1" marL="690877">
              <a:lnSpc>
                <a:spcPts val="4479"/>
              </a:lnSpc>
              <a:buFont typeface="Arial"/>
              <a:buChar char="•"/>
            </a:pP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12. Administrative Dashboard</a:t>
            </a:r>
          </a:p>
          <a:p>
            <a:pPr algn="l" indent="-345439" lvl="1" marL="690877">
              <a:lnSpc>
                <a:spcPts val="4479"/>
              </a:lnSpc>
              <a:buFont typeface="Arial"/>
              <a:buChar char="•"/>
            </a:pP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13. Network Testing &amp; Verification</a:t>
            </a:r>
          </a:p>
          <a:p>
            <a:pPr algn="l" indent="-345439" lvl="1" marL="690877">
              <a:lnSpc>
                <a:spcPts val="4479"/>
              </a:lnSpc>
              <a:buFont typeface="Arial"/>
              <a:buChar char="•"/>
            </a:pP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14. 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</a:t>
            </a:r>
            <a:r>
              <a:rPr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mentation </a:t>
            </a:r>
            <a:endParaRPr altLang="en-US" lang="zh-CN"/>
          </a:p>
          <a:p>
            <a:pPr algn="l" indent="-345439" lvl="1" marL="690877">
              <a:lnSpc>
                <a:spcPts val="4479"/>
              </a:lnSpc>
              <a:buFont typeface="Arial"/>
              <a:buChar char="•"/>
            </a:pPr>
            <a:r>
              <a:rPr altLang="en-US"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r>
              <a:rPr altLang="en-US"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r>
              <a:rPr altLang="en-US"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altLang="en-US"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altLang="en-US"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</a:t>
            </a:r>
            <a:r>
              <a:rPr altLang="en-US"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</a:t>
            </a:r>
            <a:r>
              <a:rPr altLang="en-US"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</a:t>
            </a:r>
            <a:r>
              <a:rPr altLang="en-US"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</a:t>
            </a:r>
            <a:r>
              <a:rPr altLang="en-US"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</a:t>
            </a:r>
            <a:r>
              <a:rPr altLang="en-US" sz="3199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ting </a:t>
            </a:r>
            <a:endParaRPr altLang="en-US" lang="zh-CN"/>
          </a:p>
        </p:txBody>
      </p:sp>
    </p:spTree>
  </p:cSld>
  <p:clrMapOvr>
    <a:masterClrMapping/>
  </p:clrMapOvr>
  <p:transition spd="slow">
    <p:push dir="l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Freeform 2"/>
          <p:cNvSpPr/>
          <p:nvPr/>
        </p:nvSpPr>
        <p:spPr>
          <a:xfrm rot="0" flipH="1" flipV="0">
            <a:off x="0" y="0"/>
            <a:ext cx="18288000" cy="10287000"/>
          </a:xfrm>
          <a:custGeom>
            <a:avLst/>
            <a:ah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 l="0" t="-9259" r="0" b="-9259"/>
            </a:stretch>
          </a:blipFill>
        </p:spPr>
      </p:sp>
      <p:grpSp>
        <p:nvGrpSpPr>
          <p:cNvPr id="50" name="Group 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id="1048599" name="Freeform 4"/>
            <p:cNvSpPr/>
            <p:nvPr/>
          </p:nvSpPr>
          <p:spPr>
            <a:xfrm rot="0" flipH="0" flipV="0">
              <a:off x="0" y="0"/>
              <a:ext cx="4816592" cy="2709333"/>
            </a:xfrm>
            <a:custGeom>
              <a:avLst/>
              <a:ah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1E44">
                <a:alpha val="74902"/>
              </a:srgbClr>
            </a:solidFill>
          </p:spPr>
        </p:sp>
        <p:sp>
          <p:nvSpPr>
            <p:cNvPr id="1048600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51" name="Group 6"/>
          <p:cNvGrpSpPr/>
          <p:nvPr/>
        </p:nvGrpSpPr>
        <p:grpSpPr>
          <a:xfrm rot="0">
            <a:off x="-3127161" y="-3136810"/>
            <a:ext cx="13821787" cy="10723916"/>
            <a:chOff x="0" y="0"/>
            <a:chExt cx="18429049" cy="14298555"/>
          </a:xfrm>
        </p:grpSpPr>
        <p:sp>
          <p:nvSpPr>
            <p:cNvPr id="1048601" name="Freeform 7"/>
            <p:cNvSpPr/>
            <p:nvPr/>
          </p:nvSpPr>
          <p:spPr>
            <a:xfrm rot="0" flipH="0" flipV="0">
              <a:off x="0" y="582555"/>
              <a:ext cx="13716000" cy="13716000"/>
            </a:xfrm>
            <a:custGeom>
              <a:avLst/>
              <a:ah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xmlns:r="http://schemas.openxmlformats.org/officeDocument/2006/relationships" r:embed="rId2">
                <a:alphaModFix amt="40000"/>
              </a:blip>
              <a:stretch>
                <a:fillRect l="0" t="0" r="0" b="0"/>
              </a:stretch>
            </a:blipFill>
          </p:spPr>
        </p:sp>
        <p:sp>
          <p:nvSpPr>
            <p:cNvPr id="1048602" name="Freeform 8"/>
            <p:cNvSpPr/>
            <p:nvPr/>
          </p:nvSpPr>
          <p:spPr>
            <a:xfrm rot="0" flipH="0" flipV="0">
              <a:off x="4713049" y="0"/>
              <a:ext cx="13716000" cy="13716000"/>
            </a:xfrm>
            <a:custGeom>
              <a:avLst/>
              <a:ah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xmlns:r="http://schemas.openxmlformats.org/officeDocument/2006/relationships" r:embed="rId3">
                <a:alphaModFix amt="40000"/>
              </a:blip>
              <a:stretch>
                <a:fillRect l="0" t="0" r="0" b="0"/>
              </a:stretch>
            </a:blipFill>
          </p:spPr>
        </p:sp>
      </p:grpSp>
      <p:grpSp>
        <p:nvGrpSpPr>
          <p:cNvPr id="52" name="Group 9"/>
          <p:cNvGrpSpPr/>
          <p:nvPr/>
        </p:nvGrpSpPr>
        <p:grpSpPr>
          <a:xfrm rot="0">
            <a:off x="11079887" y="1731560"/>
            <a:ext cx="6823879" cy="6823879"/>
            <a:chOff x="0" y="0"/>
            <a:chExt cx="812800" cy="812800"/>
          </a:xfrm>
        </p:grpSpPr>
        <p:sp>
          <p:nvSpPr>
            <p:cNvPr id="1048603" name="Freeform 10"/>
            <p:cNvSpPr/>
            <p:nvPr/>
          </p:nvSpPr>
          <p:spPr>
            <a:xfrm rot="0" flipH="0" flipV="0">
              <a:off x="0" y="0"/>
              <a:ext cx="812800" cy="812800"/>
            </a:xfrm>
            <a:custGeom>
              <a:avLst/>
              <a:ah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xmlns:r="http://schemas.openxmlformats.org/officeDocument/2006/relationships" r:embed="rId4"/>
              <a:stretch>
                <a:fillRect l="-25046" t="0" r="-25046" b="0"/>
              </a:stretch>
            </a:blipFill>
          </p:spPr>
        </p:sp>
      </p:grpSp>
      <p:sp>
        <p:nvSpPr>
          <p:cNvPr id="1048604" name="TextBox 11"/>
          <p:cNvSpPr txBox="1"/>
          <p:nvPr/>
        </p:nvSpPr>
        <p:spPr>
          <a:xfrm rot="0">
            <a:off x="582302" y="1450412"/>
            <a:ext cx="8346496" cy="1125474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8928"/>
              </a:lnSpc>
            </a:pPr>
            <a:r>
              <a:rPr sz="72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1</a:t>
            </a:r>
            <a:r>
              <a:rPr sz="72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-</a:t>
            </a:r>
            <a:r>
              <a:rPr sz="72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 </a:t>
            </a:r>
            <a:r>
              <a:rPr sz="72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i</a:t>
            </a:r>
            <a:r>
              <a:rPr sz="72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n</a:t>
            </a:r>
            <a:r>
              <a:rPr sz="72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t</a:t>
            </a:r>
            <a:r>
              <a:rPr sz="72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r</a:t>
            </a:r>
            <a:r>
              <a:rPr sz="72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o</a:t>
            </a:r>
            <a:r>
              <a:rPr sz="72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d</a:t>
            </a:r>
            <a:r>
              <a:rPr sz="72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uction </a:t>
            </a:r>
            <a:endParaRPr altLang="en-US" lang="zh-CN"/>
          </a:p>
        </p:txBody>
      </p:sp>
      <p:sp>
        <p:nvSpPr>
          <p:cNvPr id="1048605" name="TextBox 12"/>
          <p:cNvSpPr txBox="1"/>
          <p:nvPr/>
        </p:nvSpPr>
        <p:spPr>
          <a:xfrm rot="0">
            <a:off x="582302" y="3236714"/>
            <a:ext cx="10324587" cy="6040628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4324"/>
              </a:lnSpc>
            </a:pPr>
            <a:r>
              <a:rPr sz="3150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Designed and implemented a secure banking network infrastructure using Cisco Packet Tracer</a:t>
            </a:r>
            <a:endParaRPr altLang="en-US" lang="zh-CN"/>
          </a:p>
          <a:p>
            <a:pPr algn="l">
              <a:lnSpc>
                <a:spcPts val="4324"/>
              </a:lnSpc>
            </a:pPr>
            <a:r>
              <a:rPr altLang="en-US" sz="3150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Simulated an enterprise-level banking environment with a focus on security, reliability, and efficient network management</a:t>
            </a:r>
            <a:endParaRPr altLang="en-US" lang="zh-CN"/>
          </a:p>
          <a:p>
            <a:pPr algn="l">
              <a:lnSpc>
                <a:spcPts val="4324"/>
              </a:lnSpc>
            </a:pPr>
            <a:r>
              <a:rPr altLang="en-US" sz="3150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Configured secure communication, centralized administration, automatic IP addressing (DHCP), wireless connectivity, and protected branch-to-branch connections</a:t>
            </a:r>
            <a:endParaRPr altLang="en-US" lang="zh-CN"/>
          </a:p>
          <a:p>
            <a:pPr algn="l">
              <a:lnSpc>
                <a:spcPts val="4324"/>
              </a:lnSpc>
            </a:pPr>
            <a:r>
              <a:rPr altLang="en-US" sz="3150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Demonstrated practical networking concepts including routing, switching, network security, and infrastructure management using Cisco technologies</a:t>
            </a:r>
            <a:endParaRPr altLang="en-US" lang="zh-CN"/>
          </a:p>
        </p:txBody>
      </p:sp>
    </p:spTree>
  </p:cSld>
  <p:clrMapOvr>
    <a:masterClrMapping/>
  </p:clrMapOvr>
  <p:transition spd="slow">
    <p:push dir="l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Freeform 2"/>
          <p:cNvSpPr/>
          <p:nvPr/>
        </p:nvSpPr>
        <p:spPr>
          <a:xfrm rot="0" flipH="1" flipV="0">
            <a:off x="0" y="0"/>
            <a:ext cx="18288000" cy="10287000"/>
          </a:xfrm>
          <a:custGeom>
            <a:avLst/>
            <a:ah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 l="0" t="-9259" r="0" b="-9259"/>
            </a:stretch>
          </a:blipFill>
        </p:spPr>
      </p:sp>
      <p:sp>
        <p:nvSpPr>
          <p:cNvPr id="1048607" name="TextBox 5"/>
          <p:cNvSpPr txBox="1"/>
          <p:nvPr/>
        </p:nvSpPr>
        <p:spPr>
          <a:xfrm rot="0" flipH="0" flipV="0">
            <a:off x="-732162" y="-144661"/>
            <a:ext cx="19020162" cy="10431661"/>
          </a:xfrm>
          <a:prstGeom prst="rect"/>
        </p:spPr>
        <p:txBody>
          <a:bodyPr anchor="ctr" bIns="50800" lIns="50800" rIns="50800" rtlCol="0" tIns="50800"/>
          <a:lstStyle>
            <a:defPPr>
              <a:defRPr lang="en-US"/>
            </a:defPPr>
            <a:lvl1pPr algn="l" defTabSz="914400" eaLnBrk="1" hangingPunct="1" latinLnBrk="0" marL="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659"/>
              </a:lnSpc>
              <a:spcBef>
                <a:spcPct val="0"/>
              </a:spcBef>
            </a:pPr>
            <a:endParaRPr altLang="en-US" lang="zh-CN"/>
          </a:p>
        </p:txBody>
      </p:sp>
      <p:sp>
        <p:nvSpPr>
          <p:cNvPr id="1048608" name="TextBox 34"/>
          <p:cNvSpPr txBox="1"/>
          <p:nvPr/>
        </p:nvSpPr>
        <p:spPr>
          <a:xfrm rot="0">
            <a:off x="5491453" y="1284427"/>
            <a:ext cx="5725538" cy="945008"/>
          </a:xfrm>
          <a:prstGeom prst="rect"/>
        </p:spPr>
        <p:txBody>
          <a:bodyPr anchor="t" bIns="0" lIns="0" rIns="0" rtlCol="0" tIns="0">
            <a:spAutoFit/>
          </a:bodyPr>
          <a:lstStyle>
            <a:defPPr>
              <a:defRPr lang="en-US"/>
            </a:defPPr>
            <a:lvl1pPr algn="l" defTabSz="914400" eaLnBrk="1" hangingPunct="1" latinLnBrk="0" marL="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7441"/>
              </a:lnSpc>
            </a:pPr>
            <a:r>
              <a:rPr altLang="en-US" sz="8001" lang="en-US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2</a:t>
            </a:r>
            <a:r>
              <a:rPr altLang="en-US" sz="8001" lang="en-US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-</a:t>
            </a:r>
            <a:r>
              <a:rPr altLang="en-US" sz="8001" lang="en-US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 </a:t>
            </a:r>
            <a:r>
              <a:rPr altLang="en-US" sz="8001" lang="en-US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O</a:t>
            </a:r>
            <a:r>
              <a:rPr altLang="en-US" sz="8001" lang="en-US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v</a:t>
            </a:r>
            <a:r>
              <a:rPr altLang="en-US" sz="8001" lang="en-US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e</a:t>
            </a:r>
            <a:r>
              <a:rPr altLang="en-US" sz="8001" lang="en-US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r</a:t>
            </a:r>
            <a:r>
              <a:rPr altLang="en-US" sz="8001" lang="en-US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view </a:t>
            </a:r>
            <a:endParaRPr altLang="en-US" lang="zh-CN"/>
          </a:p>
        </p:txBody>
      </p:sp>
      <p:sp>
        <p:nvSpPr>
          <p:cNvPr id="1048609" name="TextBox 12"/>
          <p:cNvSpPr txBox="1"/>
          <p:nvPr/>
        </p:nvSpPr>
        <p:spPr>
          <a:xfrm rot="0">
            <a:off x="1079107" y="3512477"/>
            <a:ext cx="11045509" cy="549148"/>
          </a:xfrm>
          <a:prstGeom prst="rect"/>
        </p:spPr>
        <p:txBody>
          <a:bodyPr anchor="t" bIns="0" lIns="0" rIns="0" rtlCol="0" tIns="0">
            <a:spAutoFit/>
          </a:bodyPr>
          <a:lstStyle>
            <a:defPPr>
              <a:defRPr lang="en-US"/>
            </a:defPPr>
            <a:lvl1pPr algn="l" defTabSz="914400" eaLnBrk="1" hangingPunct="1" latinLnBrk="0" marL="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4324"/>
              </a:lnSpc>
            </a:pPr>
            <a:endParaRPr altLang="en-US" lang="zh-CN"/>
          </a:p>
        </p:txBody>
      </p:sp>
      <p:sp>
        <p:nvSpPr>
          <p:cNvPr id="1048610" name="TextBox 12"/>
          <p:cNvSpPr txBox="1"/>
          <p:nvPr/>
        </p:nvSpPr>
        <p:spPr>
          <a:xfrm rot="0">
            <a:off x="1973574" y="3148077"/>
            <a:ext cx="12761297" cy="7138923"/>
          </a:xfrm>
          <a:prstGeom prst="rect"/>
        </p:spPr>
        <p:txBody>
          <a:bodyPr anchor="t" bIns="0" lIns="0" rIns="0" rtlCol="0" tIns="0">
            <a:spAutoFit/>
          </a:bodyPr>
          <a:lstStyle>
            <a:defPPr>
              <a:defRPr lang="en-US"/>
            </a:defPPr>
            <a:lvl1pPr algn="l" defTabSz="914400" eaLnBrk="1" hangingPunct="1" latinLnBrk="0" marL="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4324"/>
              </a:lnSpc>
            </a:pPr>
            <a:r>
              <a:rPr altLang="en-US" sz="3150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Project Title: MyBank Smart Banking Infrastructure | Presented by: Sikandar | Event: International Networking Competition 2026 | Development Tool: Cisco Packet Tracer | What is this project? A secure enterprise banking network simulation with 7 interconnected branches using Cisco technologies | Key Features: 7 Bank Branches, Cisco ASA 5505 Firewall, EIGRP Dynamic Routing, DHCP, DNS &amp; Email Services, Wireless Connectivity (WPA2-PSK), Centralized Administrative Dashboard | Objective: To provide secure communication, automatic IP management, wireless connectivity, and centralized administration in a banking environment | Outcome: A fully functional, scalable, and secure banking infrastructure demonstrating real-world enterprise networking concepts.</a:t>
            </a:r>
            <a:endParaRPr altLang="en-US" lang="zh-CN"/>
          </a:p>
          <a:p>
            <a:pPr algn="l">
              <a:lnSpc>
                <a:spcPts val="4324"/>
              </a:lnSpc>
            </a:pPr>
            <a:endParaRPr altLang="en-US" lang="zh-C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Freeform 2"/>
          <p:cNvSpPr/>
          <p:nvPr/>
        </p:nvSpPr>
        <p:spPr>
          <a:xfrm rot="0" flipH="1" flipV="0">
            <a:off x="0" y="0"/>
            <a:ext cx="18288000" cy="11682785"/>
          </a:xfrm>
          <a:custGeom>
            <a:avLst/>
            <a:ah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 l="0" t="-9259" r="0" b="-9259"/>
            </a:stretch>
          </a:blipFill>
        </p:spPr>
        <p:txBody>
          <a:bodyPr/>
          <a:p>
            <a:r>
              <a:rPr altLang="en-US" lang="zh-CN"/>
              <a:t>
</a:t>
            </a:r>
            <a:endParaRPr altLang="en-US" lang="zh-CN"/>
          </a:p>
        </p:txBody>
      </p:sp>
      <p:sp>
        <p:nvSpPr>
          <p:cNvPr id="1048612" name="TextBox 34"/>
          <p:cNvSpPr txBox="1"/>
          <p:nvPr/>
        </p:nvSpPr>
        <p:spPr>
          <a:xfrm rot="0">
            <a:off x="-3038304" y="275383"/>
            <a:ext cx="16133828" cy="945007"/>
          </a:xfrm>
          <a:prstGeom prst="rect"/>
        </p:spPr>
        <p:txBody>
          <a:bodyPr anchor="t" bIns="0" lIns="0" rIns="0" rtlCol="0" tIns="0">
            <a:spAutoFit/>
          </a:bodyPr>
          <a:lstStyle>
            <a:defPPr>
              <a:defRPr lang="en-US"/>
            </a:defPPr>
            <a:lvl1pPr algn="l" defTabSz="914400" eaLnBrk="1" hangingPunct="1" latinLnBrk="0" marL="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7441"/>
              </a:lnSpc>
            </a:pPr>
            <a:r>
              <a:rPr altLang="en-US" sz="4400" lang="en-US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3</a:t>
            </a:r>
            <a:r>
              <a:rPr altLang="en-US" sz="4400" lang="en-US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-</a:t>
            </a:r>
            <a:r>
              <a:rPr altLang="en-US" sz="4400" lang="en-US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O</a:t>
            </a:r>
            <a:r>
              <a:rPr altLang="en-US" sz="4400" lang="en-US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b</a:t>
            </a:r>
            <a:r>
              <a:rPr altLang="en-US" sz="4400" lang="en-US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j</a:t>
            </a:r>
            <a:r>
              <a:rPr altLang="en-US" sz="4400" lang="en-US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e</a:t>
            </a:r>
            <a:r>
              <a:rPr altLang="en-US" sz="4400" lang="en-US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c</a:t>
            </a:r>
            <a:r>
              <a:rPr altLang="en-US" sz="4400" lang="en-US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</a:t>
            </a:r>
            <a:r>
              <a:rPr altLang="en-US" sz="4400" lang="en-US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ive</a:t>
            </a:r>
            <a:r>
              <a:rPr altLang="en-US" sz="4400" lang="en-US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s</a:t>
            </a:r>
            <a:r>
              <a:rPr altLang="en-US" sz="4400" lang="en-US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 </a:t>
            </a:r>
            <a:r>
              <a:rPr altLang="en-US" sz="4400" lang="en-US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&amp;</a:t>
            </a:r>
            <a:r>
              <a:rPr altLang="en-US" sz="4400" lang="en-US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 Future </a:t>
            </a:r>
            <a:r>
              <a:rPr altLang="en-US" sz="4400" lang="en-US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E</a:t>
            </a:r>
            <a:r>
              <a:rPr altLang="en-US" sz="4400" lang="en-US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n</a:t>
            </a:r>
            <a:r>
              <a:rPr altLang="en-US" sz="4400" lang="en-US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h</a:t>
            </a:r>
            <a:r>
              <a:rPr altLang="en-US" sz="4400" lang="en-US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a</a:t>
            </a:r>
            <a:r>
              <a:rPr altLang="en-US" sz="4400" lang="en-US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n</a:t>
            </a:r>
            <a:r>
              <a:rPr altLang="en-US" sz="4400" lang="en-US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c</a:t>
            </a:r>
            <a:r>
              <a:rPr altLang="en-US" sz="4400" lang="en-US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e</a:t>
            </a:r>
            <a:r>
              <a:rPr altLang="en-US" sz="4400" lang="en-US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m</a:t>
            </a:r>
            <a:r>
              <a:rPr altLang="en-US" sz="4400" lang="en-US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e</a:t>
            </a:r>
            <a:r>
              <a:rPr altLang="en-US" sz="4400" lang="en-US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n</a:t>
            </a:r>
            <a:r>
              <a:rPr altLang="en-US" sz="4400" lang="en-US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</a:t>
            </a:r>
            <a:r>
              <a:rPr altLang="en-US" sz="8001" lang="en-US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 </a:t>
            </a:r>
            <a:endParaRPr altLang="en-US" lang="zh-CN"/>
          </a:p>
        </p:txBody>
      </p:sp>
      <p:sp>
        <p:nvSpPr>
          <p:cNvPr id="1048613" name="TextBox 12"/>
          <p:cNvSpPr txBox="1"/>
          <p:nvPr/>
        </p:nvSpPr>
        <p:spPr>
          <a:xfrm rot="0">
            <a:off x="1353838" y="1495774"/>
            <a:ext cx="16558306" cy="8237218"/>
          </a:xfrm>
          <a:prstGeom prst="rect"/>
        </p:spPr>
        <p:txBody>
          <a:bodyPr anchor="t" bIns="0" lIns="0" rIns="0" rtlCol="0" tIns="0">
            <a:spAutoFit/>
          </a:bodyPr>
          <a:lstStyle>
            <a:defPPr>
              <a:defRPr lang="en-US"/>
            </a:defPPr>
            <a:lvl1pPr algn="l" defTabSz="914400" eaLnBrk="1" hangingPunct="1" latinLnBrk="0" marL="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4324"/>
              </a:lnSpc>
            </a:pPr>
            <a:r>
              <a:rPr altLang="en-US" sz="3150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Design a secure multi-branch banking network.</a:t>
            </a:r>
            <a:endParaRPr altLang="en-US" lang="zh-CN"/>
          </a:p>
          <a:p>
            <a:pPr algn="l">
              <a:lnSpc>
                <a:spcPts val="4324"/>
              </a:lnSpc>
            </a:pPr>
            <a:r>
              <a:rPr altLang="en-US" sz="3150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Implement dynamic routing using EIGRP.</a:t>
            </a:r>
            <a:endParaRPr altLang="en-US" lang="zh-CN"/>
          </a:p>
          <a:p>
            <a:pPr algn="l">
              <a:lnSpc>
                <a:spcPts val="4324"/>
              </a:lnSpc>
            </a:pPr>
            <a:r>
              <a:rPr altLang="en-US" sz="3150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Configure centralized services (DHCP, DNS, Email, Web).</a:t>
            </a:r>
            <a:endParaRPr altLang="en-US" lang="zh-CN"/>
          </a:p>
          <a:p>
            <a:pPr algn="l">
              <a:lnSpc>
                <a:spcPts val="4324"/>
              </a:lnSpc>
            </a:pPr>
            <a:r>
              <a:rPr altLang="en-US" sz="3150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Provide secure wireless connectivity.</a:t>
            </a:r>
            <a:endParaRPr altLang="en-US" lang="zh-CN"/>
          </a:p>
          <a:p>
            <a:pPr algn="l">
              <a:lnSpc>
                <a:spcPts val="4324"/>
              </a:lnSpc>
            </a:pPr>
            <a:r>
              <a:rPr altLang="en-US" sz="3150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Implement CCTV surveillance.</a:t>
            </a:r>
            <a:endParaRPr altLang="en-US" lang="zh-CN"/>
          </a:p>
          <a:p>
            <a:pPr algn="l">
              <a:lnSpc>
                <a:spcPts val="4324"/>
              </a:lnSpc>
            </a:pPr>
            <a:r>
              <a:rPr altLang="en-US" sz="3150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Implement centralized monitoring using Syslog.</a:t>
            </a:r>
            <a:endParaRPr altLang="en-US" lang="zh-CN"/>
          </a:p>
          <a:p>
            <a:pPr algn="l">
              <a:lnSpc>
                <a:spcPts val="4324"/>
              </a:lnSpc>
            </a:pPr>
            <a:r>
              <a:rPr altLang="en-US" sz="3150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Synchronize all network devices using NTP.</a:t>
            </a:r>
            <a:endParaRPr altLang="en-US" lang="zh-CN"/>
          </a:p>
          <a:p>
            <a:pPr algn="l">
              <a:lnSpc>
                <a:spcPts val="4324"/>
              </a:lnSpc>
            </a:pPr>
            <a:r>
              <a:rPr altLang="en-US" sz="3150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Secure ATM communication using ACLs.</a:t>
            </a:r>
            <a:endParaRPr altLang="en-US" lang="zh-CN"/>
          </a:p>
          <a:p>
            <a:pPr algn="l">
              <a:lnSpc>
                <a:spcPts val="4324"/>
              </a:lnSpc>
            </a:pPr>
            <a:r>
              <a:rPr altLang="en-US" sz="3150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r>
              <a:rPr altLang="en-US" sz="3150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</a:t>
            </a:r>
            <a:r>
              <a:rPr altLang="en-US" sz="3150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altLang="en-US" sz="3150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altLang="en-US" sz="3150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ure </a:t>
            </a:r>
            <a:r>
              <a:rPr altLang="en-US" sz="3150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altLang="en-US" sz="3150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altLang="en-US" sz="3150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</a:t>
            </a:r>
            <a:r>
              <a:rPr altLang="en-US" sz="3150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altLang="en-US" sz="3150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altLang="en-US" sz="3150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altLang="en-US" sz="3150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altLang="en-US" sz="3150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ment</a:t>
            </a:r>
            <a:r>
              <a:rPr altLang="en-US" sz="3150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endParaRPr altLang="en-US" lang="zh-CN"/>
          </a:p>
          <a:p>
            <a:pPr algn="l">
              <a:lnSpc>
                <a:spcPts val="4324"/>
              </a:lnSpc>
            </a:pPr>
            <a:r>
              <a:rPr altLang="en-US" sz="3150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VPN Connectivity</a:t>
            </a:r>
            <a:endParaRPr altLang="en-US" lang="zh-CN"/>
          </a:p>
          <a:p>
            <a:pPr algn="l">
              <a:lnSpc>
                <a:spcPts val="4324"/>
              </a:lnSpc>
            </a:pPr>
            <a:r>
              <a:rPr altLang="en-US" sz="3150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Dual ISP Redundancy</a:t>
            </a:r>
            <a:endParaRPr altLang="en-US" lang="zh-CN"/>
          </a:p>
          <a:p>
            <a:pPr algn="l">
              <a:lnSpc>
                <a:spcPts val="4324"/>
              </a:lnSpc>
            </a:pPr>
            <a:r>
              <a:rPr altLang="en-US" sz="3150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Intrusion Detection/Prevention System (IDS/IPS)</a:t>
            </a:r>
            <a:endParaRPr altLang="en-US" lang="zh-CN"/>
          </a:p>
          <a:p>
            <a:pPr algn="l">
              <a:lnSpc>
                <a:spcPts val="4324"/>
              </a:lnSpc>
            </a:pPr>
            <a:r>
              <a:rPr altLang="en-US" sz="3150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Cloud Backup</a:t>
            </a:r>
            <a:endParaRPr altLang="en-US" lang="zh-CN"/>
          </a:p>
          <a:p>
            <a:pPr algn="l">
              <a:lnSpc>
                <a:spcPts val="4324"/>
              </a:lnSpc>
            </a:pPr>
            <a:r>
              <a:rPr altLang="en-US" sz="3150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Database Replication</a:t>
            </a:r>
            <a:endParaRPr altLang="en-US" lang="zh-CN"/>
          </a:p>
          <a:p>
            <a:pPr algn="l">
              <a:lnSpc>
                <a:spcPts val="4324"/>
              </a:lnSpc>
            </a:pPr>
            <a:r>
              <a:rPr altLang="en-US" sz="3150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Network Monitoring Dashboard</a:t>
            </a:r>
            <a:endParaRPr altLang="en-US" 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4" name="Freeform 2"/>
          <p:cNvSpPr/>
          <p:nvPr/>
        </p:nvSpPr>
        <p:spPr>
          <a:xfrm rot="0" flipH="1" flipV="0">
            <a:off x="0" y="0"/>
            <a:ext cx="18288000" cy="10287000"/>
          </a:xfrm>
          <a:custGeom>
            <a:avLst/>
            <a:ah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 l="0" t="-9259" r="0" b="-9259"/>
            </a:stretch>
          </a:blipFill>
        </p:spPr>
      </p:sp>
      <p:grpSp>
        <p:nvGrpSpPr>
          <p:cNvPr id="56" name="Group 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id="1048615" name="Freeform 4"/>
            <p:cNvSpPr/>
            <p:nvPr/>
          </p:nvSpPr>
          <p:spPr>
            <a:xfrm rot="0" flipH="0" flipV="0">
              <a:off x="0" y="0"/>
              <a:ext cx="4816592" cy="2709333"/>
            </a:xfrm>
            <a:custGeom>
              <a:avLst/>
              <a:ah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1E44">
                <a:alpha val="74902"/>
              </a:srgbClr>
            </a:solidFill>
          </p:spPr>
        </p:sp>
        <p:sp>
          <p:nvSpPr>
            <p:cNvPr id="1048616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57" name="Group 6"/>
          <p:cNvGrpSpPr/>
          <p:nvPr/>
        </p:nvGrpSpPr>
        <p:grpSpPr>
          <a:xfrm rot="0">
            <a:off x="-3127161" y="-3136810"/>
            <a:ext cx="13821787" cy="10723916"/>
            <a:chOff x="0" y="0"/>
            <a:chExt cx="18429049" cy="14298555"/>
          </a:xfrm>
        </p:grpSpPr>
        <p:sp>
          <p:nvSpPr>
            <p:cNvPr id="1048617" name="Freeform 7"/>
            <p:cNvSpPr/>
            <p:nvPr/>
          </p:nvSpPr>
          <p:spPr>
            <a:xfrm rot="0" flipH="0" flipV="0">
              <a:off x="0" y="582555"/>
              <a:ext cx="13716000" cy="13716000"/>
            </a:xfrm>
            <a:custGeom>
              <a:avLst/>
              <a:ah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xmlns:r="http://schemas.openxmlformats.org/officeDocument/2006/relationships" r:embed="rId2">
                <a:alphaModFix amt="40000"/>
              </a:blip>
              <a:stretch>
                <a:fillRect l="0" t="0" r="0" b="0"/>
              </a:stretch>
            </a:blipFill>
          </p:spPr>
        </p:sp>
        <p:sp>
          <p:nvSpPr>
            <p:cNvPr id="1048618" name="Freeform 8"/>
            <p:cNvSpPr/>
            <p:nvPr/>
          </p:nvSpPr>
          <p:spPr>
            <a:xfrm rot="0" flipH="0" flipV="0">
              <a:off x="4713049" y="0"/>
              <a:ext cx="13716000" cy="13716000"/>
            </a:xfrm>
            <a:custGeom>
              <a:avLst/>
              <a:ah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xmlns:r="http://schemas.openxmlformats.org/officeDocument/2006/relationships" r:embed="rId3">
                <a:alphaModFix amt="40000"/>
              </a:blip>
              <a:stretch>
                <a:fillRect l="0" t="0" r="0" b="0"/>
              </a:stretch>
            </a:blipFill>
          </p:spPr>
        </p:sp>
      </p:grpSp>
      <p:sp>
        <p:nvSpPr>
          <p:cNvPr id="1048619" name="TextBox 11"/>
          <p:cNvSpPr txBox="1"/>
          <p:nvPr/>
        </p:nvSpPr>
        <p:spPr>
          <a:xfrm rot="0">
            <a:off x="1028699" y="2006690"/>
            <a:ext cx="15048633" cy="1086103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4320"/>
              </a:lnSpc>
            </a:pPr>
            <a:r>
              <a:rPr sz="3146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 this Phase we have created a model for network infrastructure that shows network features using (Microsoft Visio) as a modelling tool.</a:t>
            </a:r>
          </a:p>
        </p:txBody>
      </p:sp>
      <p:sp>
        <p:nvSpPr>
          <p:cNvPr id="1048620" name="TextBox 12"/>
          <p:cNvSpPr txBox="1"/>
          <p:nvPr/>
        </p:nvSpPr>
        <p:spPr>
          <a:xfrm rot="0">
            <a:off x="1028700" y="550000"/>
            <a:ext cx="8346496" cy="784225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6200"/>
              </a:lnSpc>
            </a:pP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4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-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 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N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e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t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w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ork Modelling</a:t>
            </a:r>
            <a:endParaRPr altLang="en-US" lang="zh-CN"/>
          </a:p>
        </p:txBody>
      </p:sp>
      <p:pic>
        <p:nvPicPr>
          <p:cNvPr id="2097153" name=""/>
          <p:cNvPicPr>
            <a:picLocks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 rot="0">
            <a:off x="2855207" y="4584120"/>
            <a:ext cx="10956032" cy="5287740"/>
          </a:xfrm>
          <a:prstGeom prst="rect"/>
        </p:spPr>
      </p:pic>
    </p:spTree>
  </p:cSld>
  <p:clrMapOvr>
    <a:masterClrMapping/>
  </p:clrMapOvr>
  <p:transition spd="slow">
    <p:push dir="l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Freeform 2"/>
          <p:cNvSpPr/>
          <p:nvPr/>
        </p:nvSpPr>
        <p:spPr>
          <a:xfrm rot="0" flipH="1" flipV="0">
            <a:off x="0" y="0"/>
            <a:ext cx="18288000" cy="10287000"/>
          </a:xfrm>
          <a:custGeom>
            <a:avLst/>
            <a:ah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 l="0" t="-9259" r="0" b="-9259"/>
            </a:stretch>
          </a:blipFill>
        </p:spPr>
      </p:sp>
      <p:grpSp>
        <p:nvGrpSpPr>
          <p:cNvPr id="59" name="Group 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id="1048622" name="Freeform 4"/>
            <p:cNvSpPr/>
            <p:nvPr/>
          </p:nvSpPr>
          <p:spPr>
            <a:xfrm rot="0" flipH="0" flipV="0">
              <a:off x="0" y="0"/>
              <a:ext cx="4816592" cy="2709333"/>
            </a:xfrm>
            <a:custGeom>
              <a:avLst/>
              <a:ah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1E44">
                <a:alpha val="74902"/>
              </a:srgbClr>
            </a:solidFill>
          </p:spPr>
        </p:sp>
        <p:sp>
          <p:nvSpPr>
            <p:cNvPr id="1048623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60" name="Group 6"/>
          <p:cNvGrpSpPr/>
          <p:nvPr/>
        </p:nvGrpSpPr>
        <p:grpSpPr>
          <a:xfrm rot="0">
            <a:off x="-3127161" y="-3136810"/>
            <a:ext cx="13821787" cy="10723916"/>
            <a:chOff x="0" y="0"/>
            <a:chExt cx="18429049" cy="14298555"/>
          </a:xfrm>
        </p:grpSpPr>
        <p:sp>
          <p:nvSpPr>
            <p:cNvPr id="1048624" name="Freeform 7"/>
            <p:cNvSpPr/>
            <p:nvPr/>
          </p:nvSpPr>
          <p:spPr>
            <a:xfrm rot="0" flipH="0" flipV="0">
              <a:off x="0" y="582555"/>
              <a:ext cx="13716000" cy="13716000"/>
            </a:xfrm>
            <a:custGeom>
              <a:avLst/>
              <a:ah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xmlns:r="http://schemas.openxmlformats.org/officeDocument/2006/relationships" r:embed="rId2">
                <a:alphaModFix amt="40000"/>
              </a:blip>
              <a:stretch>
                <a:fillRect l="0" t="0" r="0" b="0"/>
              </a:stretch>
            </a:blipFill>
          </p:spPr>
        </p:sp>
        <p:sp>
          <p:nvSpPr>
            <p:cNvPr id="1048625" name="Freeform 8"/>
            <p:cNvSpPr/>
            <p:nvPr/>
          </p:nvSpPr>
          <p:spPr>
            <a:xfrm rot="0" flipH="0" flipV="0">
              <a:off x="4713049" y="0"/>
              <a:ext cx="13716000" cy="13716000"/>
            </a:xfrm>
            <a:custGeom>
              <a:avLst/>
              <a:ah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xmlns:r="http://schemas.openxmlformats.org/officeDocument/2006/relationships" r:embed="rId3">
                <a:alphaModFix amt="40000"/>
              </a:blip>
              <a:stretch>
                <a:fillRect l="0" t="0" r="0" b="0"/>
              </a:stretch>
            </a:blipFill>
          </p:spPr>
        </p:sp>
      </p:grpSp>
      <p:sp>
        <p:nvSpPr>
          <p:cNvPr id="1048626" name="TextBox 11"/>
          <p:cNvSpPr txBox="1"/>
          <p:nvPr/>
        </p:nvSpPr>
        <p:spPr>
          <a:xfrm rot="0">
            <a:off x="1028700" y="2978354"/>
            <a:ext cx="15900687" cy="1645921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4320"/>
              </a:lnSpc>
            </a:pPr>
            <a:r>
              <a:rPr sz="3146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 this Phase we have created a structured layout of the bank's network infrastructure. This includes defining the logical and physical layout of the network components, such as routers, multilayer switches, access points, servers, and end-user devices.</a:t>
            </a:r>
          </a:p>
        </p:txBody>
      </p:sp>
      <p:sp>
        <p:nvSpPr>
          <p:cNvPr id="1048627" name="TextBox 12"/>
          <p:cNvSpPr txBox="1"/>
          <p:nvPr/>
        </p:nvSpPr>
        <p:spPr>
          <a:xfrm rot="0">
            <a:off x="1028700" y="996455"/>
            <a:ext cx="9219333" cy="784225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6200"/>
              </a:lnSpc>
            </a:pP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5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-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 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N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e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t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work Topology Design</a:t>
            </a:r>
            <a:endParaRPr altLang="en-US" lang="zh-CN"/>
          </a:p>
        </p:txBody>
      </p:sp>
      <p:pic>
        <p:nvPicPr>
          <p:cNvPr id="2097154" name=""/>
          <p:cNvPicPr>
            <a:picLocks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 rot="0">
            <a:off x="4056771" y="5477029"/>
            <a:ext cx="8779447" cy="4374170"/>
          </a:xfrm>
          <a:prstGeom prst="rect"/>
        </p:spPr>
      </p:pic>
    </p:spTree>
  </p:cSld>
  <p:clrMapOvr>
    <a:masterClrMapping/>
  </p:clrMapOvr>
  <p:transition spd="slow">
    <p:push dir="l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8" name="Freeform 2"/>
          <p:cNvSpPr/>
          <p:nvPr/>
        </p:nvSpPr>
        <p:spPr>
          <a:xfrm rot="0" flipH="1" flipV="0">
            <a:off x="0" y="0"/>
            <a:ext cx="18288000" cy="10287000"/>
          </a:xfrm>
          <a:custGeom>
            <a:avLst/>
            <a:ah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 l="0" t="-9259" r="0" b="-9259"/>
            </a:stretch>
          </a:blipFill>
        </p:spPr>
      </p:sp>
      <p:grpSp>
        <p:nvGrpSpPr>
          <p:cNvPr id="62" name="Group 3"/>
          <p:cNvGrpSpPr/>
          <p:nvPr/>
        </p:nvGrpSpPr>
        <p:grpSpPr>
          <a:xfrm rot="0">
            <a:off x="0" y="0"/>
            <a:ext cx="18288000" cy="10987700"/>
            <a:chOff x="0" y="0"/>
            <a:chExt cx="4816593" cy="2709333"/>
          </a:xfrm>
        </p:grpSpPr>
        <p:sp>
          <p:nvSpPr>
            <p:cNvPr id="1048629" name="Freeform 4"/>
            <p:cNvSpPr/>
            <p:nvPr/>
          </p:nvSpPr>
          <p:spPr>
            <a:xfrm rot="0" flipH="0" flipV="0">
              <a:off x="0" y="0"/>
              <a:ext cx="4816592" cy="2709333"/>
            </a:xfrm>
            <a:custGeom>
              <a:avLst/>
              <a:ah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1E44">
                <a:alpha val="74902"/>
              </a:srgbClr>
            </a:solidFill>
          </p:spPr>
        </p:sp>
        <p:sp>
          <p:nvSpPr>
            <p:cNvPr id="1048630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63" name="Group 6"/>
          <p:cNvGrpSpPr/>
          <p:nvPr/>
        </p:nvGrpSpPr>
        <p:grpSpPr>
          <a:xfrm rot="0">
            <a:off x="-3127161" y="-3136810"/>
            <a:ext cx="13821787" cy="10723916"/>
            <a:chOff x="0" y="0"/>
            <a:chExt cx="18429049" cy="14298555"/>
          </a:xfrm>
        </p:grpSpPr>
        <p:sp>
          <p:nvSpPr>
            <p:cNvPr id="1048631" name="Freeform 7"/>
            <p:cNvSpPr/>
            <p:nvPr/>
          </p:nvSpPr>
          <p:spPr>
            <a:xfrm rot="0" flipH="0" flipV="0">
              <a:off x="0" y="582555"/>
              <a:ext cx="13716000" cy="13716000"/>
            </a:xfrm>
            <a:custGeom>
              <a:avLst/>
              <a:ah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xmlns:r="http://schemas.openxmlformats.org/officeDocument/2006/relationships" r:embed="rId2">
                <a:alphaModFix amt="40000"/>
              </a:blip>
              <a:stretch>
                <a:fillRect l="0" t="0" r="0" b="0"/>
              </a:stretch>
            </a:blipFill>
          </p:spPr>
        </p:sp>
        <p:sp>
          <p:nvSpPr>
            <p:cNvPr id="1048632" name="Freeform 8"/>
            <p:cNvSpPr/>
            <p:nvPr/>
          </p:nvSpPr>
          <p:spPr>
            <a:xfrm rot="0" flipH="0" flipV="0">
              <a:off x="4713049" y="0"/>
              <a:ext cx="13716000" cy="13716000"/>
            </a:xfrm>
            <a:custGeom>
              <a:avLst/>
              <a:ah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xmlns:r="http://schemas.openxmlformats.org/officeDocument/2006/relationships" r:embed="rId3">
                <a:alphaModFix amt="40000"/>
              </a:blip>
              <a:stretch>
                <a:fillRect l="0" t="0" r="0" b="0"/>
              </a:stretch>
            </a:blipFill>
          </p:spPr>
        </p:sp>
      </p:grpSp>
      <p:sp>
        <p:nvSpPr>
          <p:cNvPr id="1048633" name="TextBox 11"/>
          <p:cNvSpPr txBox="1"/>
          <p:nvPr/>
        </p:nvSpPr>
        <p:spPr>
          <a:xfrm rot="0">
            <a:off x="1028697" y="2370684"/>
            <a:ext cx="16230600" cy="1617815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4256"/>
              </a:lnSpc>
            </a:pPr>
            <a:r>
              <a:rPr sz="3099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 this phase </a:t>
            </a:r>
            <a:r>
              <a:rPr sz="3099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sz="3099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sz="3099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sz="3099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et up devices for routing and advanced switching. This includes configuring routing protocols, inter-VLAN routing, and security features to enable communication between different network segments securely and efficiently.</a:t>
            </a:r>
            <a:endParaRPr altLang="en-US" lang="zh-CN"/>
          </a:p>
        </p:txBody>
      </p:sp>
      <p:sp>
        <p:nvSpPr>
          <p:cNvPr id="1048634" name="TextBox 12"/>
          <p:cNvSpPr txBox="1"/>
          <p:nvPr/>
        </p:nvSpPr>
        <p:spPr>
          <a:xfrm rot="0">
            <a:off x="1028698" y="328238"/>
            <a:ext cx="11380642" cy="787401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6200"/>
              </a:lnSpc>
            </a:pP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6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-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 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b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r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a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n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c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h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 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a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d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dress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i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n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g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 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s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c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h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e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m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e</a:t>
            </a:r>
            <a:endParaRPr altLang="en-US" lang="zh-CN"/>
          </a:p>
        </p:txBody>
      </p:sp>
      <p:pic>
        <p:nvPicPr>
          <p:cNvPr id="2097155" name=""/>
          <p:cNvPicPr>
            <a:picLocks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 rot="0">
            <a:off x="3200509" y="5243544"/>
            <a:ext cx="11886982" cy="4413200"/>
          </a:xfrm>
          <a:prstGeom prst="rect"/>
        </p:spPr>
      </p:pic>
    </p:spTree>
  </p:cSld>
  <p:clrMapOvr>
    <a:masterClrMapping/>
  </p:clrMapOvr>
  <p:transition spd="slow">
    <p:push dir="l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5" name="Freeform 2"/>
          <p:cNvSpPr/>
          <p:nvPr/>
        </p:nvSpPr>
        <p:spPr>
          <a:xfrm rot="0" flipH="1" flipV="0">
            <a:off x="0" y="0"/>
            <a:ext cx="18288000" cy="10287000"/>
          </a:xfrm>
          <a:custGeom>
            <a:avLst/>
            <a:ah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 l="0" t="-9259" r="0" b="-9259"/>
            </a:stretch>
          </a:blipFill>
        </p:spPr>
      </p:sp>
      <p:grpSp>
        <p:nvGrpSpPr>
          <p:cNvPr id="65" name="Group 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id="1048636" name="Freeform 4"/>
            <p:cNvSpPr/>
            <p:nvPr/>
          </p:nvSpPr>
          <p:spPr>
            <a:xfrm rot="0" flipH="0" flipV="0">
              <a:off x="0" y="0"/>
              <a:ext cx="4816592" cy="2709333"/>
            </a:xfrm>
            <a:custGeom>
              <a:avLst/>
              <a:ah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1E44">
                <a:alpha val="74902"/>
              </a:srgbClr>
            </a:solidFill>
          </p:spPr>
        </p:sp>
        <p:sp>
          <p:nvSpPr>
            <p:cNvPr id="1048637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66" name="Group 6"/>
          <p:cNvGrpSpPr/>
          <p:nvPr/>
        </p:nvGrpSpPr>
        <p:grpSpPr>
          <a:xfrm rot="0">
            <a:off x="-3127161" y="-3136810"/>
            <a:ext cx="13821787" cy="10723916"/>
            <a:chOff x="0" y="0"/>
            <a:chExt cx="18429049" cy="14298555"/>
          </a:xfrm>
        </p:grpSpPr>
        <p:sp>
          <p:nvSpPr>
            <p:cNvPr id="1048638" name="Freeform 7"/>
            <p:cNvSpPr/>
            <p:nvPr/>
          </p:nvSpPr>
          <p:spPr>
            <a:xfrm rot="0" flipH="0" flipV="0">
              <a:off x="0" y="582555"/>
              <a:ext cx="13716000" cy="13716000"/>
            </a:xfrm>
            <a:custGeom>
              <a:avLst/>
              <a:ah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xmlns:r="http://schemas.openxmlformats.org/officeDocument/2006/relationships" r:embed="rId2">
                <a:alphaModFix amt="40000"/>
              </a:blip>
              <a:stretch>
                <a:fillRect l="0" t="0" r="0" b="0"/>
              </a:stretch>
            </a:blipFill>
          </p:spPr>
        </p:sp>
        <p:sp>
          <p:nvSpPr>
            <p:cNvPr id="1048639" name="Freeform 8"/>
            <p:cNvSpPr/>
            <p:nvPr/>
          </p:nvSpPr>
          <p:spPr>
            <a:xfrm rot="0" flipH="0" flipV="0">
              <a:off x="4713049" y="0"/>
              <a:ext cx="13716000" cy="13716000"/>
            </a:xfrm>
            <a:custGeom>
              <a:avLst/>
              <a:ah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xmlns:r="http://schemas.openxmlformats.org/officeDocument/2006/relationships" r:embed="rId3">
                <a:alphaModFix amt="40000"/>
              </a:blip>
              <a:stretch>
                <a:fillRect l="0" t="0" r="0" b="0"/>
              </a:stretch>
            </a:blipFill>
          </p:spPr>
        </p:sp>
      </p:grpSp>
      <p:sp>
        <p:nvSpPr>
          <p:cNvPr id="1048640" name="TextBox 11"/>
          <p:cNvSpPr txBox="1"/>
          <p:nvPr/>
        </p:nvSpPr>
        <p:spPr>
          <a:xfrm rot="0">
            <a:off x="1028700" y="3073229"/>
            <a:ext cx="15048633" cy="3840480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4320"/>
              </a:lnSpc>
            </a:pPr>
            <a:r>
              <a:rPr sz="3146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 reduce manual configuration, Dynamic Host Configuration Protocol has been implemented.</a:t>
            </a:r>
            <a:endParaRPr altLang="en-US" lang="zh-CN"/>
          </a:p>
          <a:p>
            <a:pPr algn="l">
              <a:lnSpc>
                <a:spcPts val="4320"/>
              </a:lnSpc>
            </a:pPr>
            <a:r>
              <a:rPr altLang="en-US" sz="3146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DHCP automatically provides:</a:t>
            </a:r>
            <a:endParaRPr altLang="en-US" lang="zh-CN"/>
          </a:p>
          <a:p>
            <a:pPr algn="l">
              <a:lnSpc>
                <a:spcPts val="4320"/>
              </a:lnSpc>
            </a:pPr>
            <a:r>
              <a:rPr altLang="en-US" sz="3146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IP address</a:t>
            </a:r>
            <a:endParaRPr altLang="en-US" lang="zh-CN"/>
          </a:p>
          <a:p>
            <a:pPr algn="l">
              <a:lnSpc>
                <a:spcPts val="4320"/>
              </a:lnSpc>
            </a:pPr>
            <a:r>
              <a:rPr altLang="en-US" sz="3146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Subnet mask</a:t>
            </a:r>
            <a:endParaRPr altLang="en-US" lang="zh-CN"/>
          </a:p>
          <a:p>
            <a:pPr algn="l">
              <a:lnSpc>
                <a:spcPts val="4320"/>
              </a:lnSpc>
            </a:pPr>
            <a:r>
              <a:rPr altLang="en-US" sz="3146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Default gateway</a:t>
            </a:r>
            <a:endParaRPr altLang="en-US" lang="zh-CN"/>
          </a:p>
          <a:p>
            <a:pPr algn="l">
              <a:lnSpc>
                <a:spcPts val="4320"/>
              </a:lnSpc>
            </a:pPr>
            <a:r>
              <a:rPr altLang="en-US" sz="3146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DNS server</a:t>
            </a:r>
            <a:endParaRPr altLang="en-US" lang="zh-CN"/>
          </a:p>
        </p:txBody>
      </p:sp>
      <p:sp>
        <p:nvSpPr>
          <p:cNvPr id="1048641" name="TextBox 12"/>
          <p:cNvSpPr txBox="1"/>
          <p:nvPr/>
        </p:nvSpPr>
        <p:spPr>
          <a:xfrm rot="0">
            <a:off x="1028700" y="725590"/>
            <a:ext cx="11006569" cy="784225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6200"/>
              </a:lnSpc>
            </a:pPr>
            <a:r>
              <a:rPr altLang="en-US"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7</a:t>
            </a:r>
            <a:r>
              <a:rPr altLang="en-US"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-</a:t>
            </a:r>
            <a:r>
              <a:rPr altLang="en-US"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D</a:t>
            </a:r>
            <a:r>
              <a:rPr altLang="en-US"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H</a:t>
            </a:r>
            <a:r>
              <a:rPr altLang="en-US"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C</a:t>
            </a:r>
            <a:r>
              <a:rPr altLang="en-US"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P </a:t>
            </a:r>
            <a:r>
              <a:rPr altLang="en-US"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s</a:t>
            </a:r>
            <a:r>
              <a:rPr altLang="en-US"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e</a:t>
            </a:r>
            <a:r>
              <a:rPr altLang="en-US"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r</a:t>
            </a:r>
            <a:r>
              <a:rPr altLang="en-US"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v</a:t>
            </a:r>
            <a:r>
              <a:rPr altLang="en-US"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i</a:t>
            </a:r>
            <a:r>
              <a:rPr altLang="en-US"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ce</a:t>
            </a:r>
            <a:r>
              <a:rPr altLang="en-US"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s</a:t>
            </a:r>
            <a:endParaRPr altLang="en-US" lang="zh-CN"/>
          </a:p>
        </p:txBody>
      </p:sp>
      <p:pic>
        <p:nvPicPr>
          <p:cNvPr id="2097156" name=""/>
          <p:cNvPicPr>
            <a:picLocks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 rot="0">
            <a:off x="7159840" y="3978147"/>
            <a:ext cx="10129271" cy="5515353"/>
          </a:xfrm>
          <a:prstGeom prst="rect"/>
        </p:spPr>
      </p:pic>
    </p:spTree>
  </p:cSld>
  <p:clrMapOvr>
    <a:masterClrMapping/>
  </p:clrMapOvr>
  <p:transition spd="slow">
    <p:push dir="l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Freeform 2"/>
          <p:cNvSpPr/>
          <p:nvPr/>
        </p:nvSpPr>
        <p:spPr>
          <a:xfrm rot="0" flipH="1" flipV="0">
            <a:off x="0" y="0"/>
            <a:ext cx="18288000" cy="10287000"/>
          </a:xfrm>
          <a:custGeom>
            <a:avLst/>
            <a:ah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 l="0" t="-9259" r="0" b="-9259"/>
            </a:stretch>
          </a:blipFill>
        </p:spPr>
      </p:sp>
      <p:grpSp>
        <p:nvGrpSpPr>
          <p:cNvPr id="68" name="Group 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id="1048643" name="Freeform 4"/>
            <p:cNvSpPr/>
            <p:nvPr/>
          </p:nvSpPr>
          <p:spPr>
            <a:xfrm rot="0" flipH="0" flipV="0">
              <a:off x="0" y="0"/>
              <a:ext cx="4816592" cy="2709333"/>
            </a:xfrm>
            <a:custGeom>
              <a:avLst/>
              <a:ah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1E44">
                <a:alpha val="74902"/>
              </a:srgbClr>
            </a:solidFill>
          </p:spPr>
        </p:sp>
        <p:sp>
          <p:nvSpPr>
            <p:cNvPr id="1048644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69" name="Group 6"/>
          <p:cNvGrpSpPr/>
          <p:nvPr/>
        </p:nvGrpSpPr>
        <p:grpSpPr>
          <a:xfrm rot="0">
            <a:off x="745773" y="-436916"/>
            <a:ext cx="15423252" cy="10723916"/>
            <a:chOff x="0" y="0"/>
            <a:chExt cx="18429049" cy="14298555"/>
          </a:xfrm>
        </p:grpSpPr>
        <p:sp>
          <p:nvSpPr>
            <p:cNvPr id="1048645" name="Freeform 7"/>
            <p:cNvSpPr/>
            <p:nvPr/>
          </p:nvSpPr>
          <p:spPr>
            <a:xfrm rot="0" flipH="0" flipV="0">
              <a:off x="0" y="582555"/>
              <a:ext cx="13716000" cy="13716000"/>
            </a:xfrm>
            <a:custGeom>
              <a:avLst/>
              <a:ah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xmlns:r="http://schemas.openxmlformats.org/officeDocument/2006/relationships" r:embed="rId2">
                <a:alphaModFix amt="40000"/>
              </a:blip>
              <a:stretch>
                <a:fillRect l="0" t="0" r="0" b="0"/>
              </a:stretch>
            </a:blipFill>
          </p:spPr>
        </p:sp>
        <p:sp>
          <p:nvSpPr>
            <p:cNvPr id="1048646" name="Freeform 8"/>
            <p:cNvSpPr/>
            <p:nvPr/>
          </p:nvSpPr>
          <p:spPr>
            <a:xfrm rot="0" flipH="0" flipV="0">
              <a:off x="4713049" y="0"/>
              <a:ext cx="13716000" cy="13716000"/>
            </a:xfrm>
            <a:custGeom>
              <a:avLst/>
              <a:ah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xmlns:r="http://schemas.openxmlformats.org/officeDocument/2006/relationships" r:embed="rId3">
                <a:alphaModFix amt="40000"/>
              </a:blip>
              <a:stretch>
                <a:fillRect l="0" t="0" r="0" b="0"/>
              </a:stretch>
            </a:blipFill>
          </p:spPr>
        </p:sp>
      </p:grpSp>
      <p:sp>
        <p:nvSpPr>
          <p:cNvPr id="1048647" name="TextBox 10"/>
          <p:cNvSpPr txBox="1"/>
          <p:nvPr/>
        </p:nvSpPr>
        <p:spPr>
          <a:xfrm rot="0">
            <a:off x="5551126" y="-8135654"/>
            <a:ext cx="8346496" cy="1125474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8928"/>
              </a:lnSpc>
            </a:pPr>
            <a:r>
              <a:rPr sz="72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Project Phases</a:t>
            </a:r>
          </a:p>
        </p:txBody>
      </p:sp>
      <p:sp>
        <p:nvSpPr>
          <p:cNvPr id="1048648" name="TextBox 11"/>
          <p:cNvSpPr txBox="1"/>
          <p:nvPr/>
        </p:nvSpPr>
        <p:spPr>
          <a:xfrm rot="0">
            <a:off x="1474858" y="608993"/>
            <a:ext cx="9531060" cy="784225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6200"/>
              </a:lnSpc>
            </a:pP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8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-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 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 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D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N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S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 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S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e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r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v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e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r </a:t>
            </a:r>
            <a:endParaRPr altLang="en-US" lang="zh-CN"/>
          </a:p>
        </p:txBody>
      </p:sp>
      <p:sp>
        <p:nvSpPr>
          <p:cNvPr id="1048649" name="TextBox 12"/>
          <p:cNvSpPr txBox="1"/>
          <p:nvPr/>
        </p:nvSpPr>
        <p:spPr>
          <a:xfrm rot="0">
            <a:off x="1474858" y="1531961"/>
            <a:ext cx="15152542" cy="3291841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4320"/>
              </a:lnSpc>
            </a:pPr>
            <a:r>
              <a:rPr sz="3146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IP Address: 172.20.0.48</a:t>
            </a:r>
            <a:endParaRPr altLang="en-US" lang="zh-CN"/>
          </a:p>
          <a:p>
            <a:pPr algn="l">
              <a:lnSpc>
                <a:spcPts val="4320"/>
              </a:lnSpc>
            </a:pPr>
            <a:r>
              <a:rPr altLang="en-US" sz="3146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r>
              <a:rPr altLang="en-US" sz="3146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altLang="en-US" sz="3146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y</a:t>
            </a:r>
            <a:r>
              <a:rPr altLang="en-US" sz="3146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r>
              <a:rPr altLang="en-US" sz="3146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altLang="en-US" sz="3146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altLang="en-US" sz="3146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k.com</a:t>
            </a:r>
            <a:endParaRPr altLang="en-US" lang="zh-CN"/>
          </a:p>
          <a:p>
            <a:pPr algn="l">
              <a:lnSpc>
                <a:spcPts val="4320"/>
              </a:lnSpc>
            </a:pPr>
            <a:r>
              <a:rPr altLang="en-US" sz="3146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· mail.mybank.com</a:t>
            </a:r>
            <a:endParaRPr altLang="en-US" lang="zh-CN"/>
          </a:p>
          <a:p>
            <a:pPr algn="l">
              <a:lnSpc>
                <a:spcPts val="4320"/>
              </a:lnSpc>
            </a:pPr>
            <a:r>
              <a:rPr altLang="en-US" sz="3146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· admin.mybank.com</a:t>
            </a:r>
            <a:endParaRPr altLang="en-US" lang="zh-CN"/>
          </a:p>
          <a:p>
            <a:pPr algn="l">
              <a:lnSpc>
                <a:spcPts val="4320"/>
              </a:lnSpc>
            </a:pPr>
            <a:r>
              <a:rPr altLang="en-US" sz="3146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· Users can simply type mybank.com instead of numerical IP addresses</a:t>
            </a:r>
            <a:endParaRPr altLang="en-US" lang="zh-CN"/>
          </a:p>
          <a:p>
            <a:pPr algn="l">
              <a:lnSpc>
                <a:spcPts val="4320"/>
              </a:lnSpc>
            </a:pPr>
            <a:r>
              <a:rPr altLang="en-US" sz="3146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· Improves usability and simplifies network administration</a:t>
            </a:r>
            <a:endParaRPr altLang="en-US" lang="zh-CN"/>
          </a:p>
        </p:txBody>
      </p:sp>
      <p:pic>
        <p:nvPicPr>
          <p:cNvPr id="2097157" name=""/>
          <p:cNvPicPr>
            <a:picLocks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 rot="0">
            <a:off x="3780370" y="5317867"/>
            <a:ext cx="10117252" cy="4969132"/>
          </a:xfrm>
          <a:prstGeom prst="rect"/>
        </p:spPr>
      </p:pic>
    </p:spTree>
  </p:cSld>
  <p:clrMapOvr>
    <a:masterClrMapping/>
  </p:clrMapOvr>
  <p:transition spd="slow">
    <p:push dir="l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Freeform 2"/>
          <p:cNvSpPr/>
          <p:nvPr/>
        </p:nvSpPr>
        <p:spPr>
          <a:xfrm rot="0" flipH="1" flipV="0">
            <a:off x="0" y="0"/>
            <a:ext cx="18288000" cy="10287000"/>
          </a:xfrm>
          <a:custGeom>
            <a:avLst/>
            <a:ah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 l="0" t="-9259" r="0" b="-9259"/>
            </a:stretch>
          </a:blipFill>
        </p:spPr>
      </p:sp>
      <p:pic>
        <p:nvPicPr>
          <p:cNvPr id="2097158" name=""/>
          <p:cNvPicPr>
            <a:picLocks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 rot="0">
            <a:off x="1468031" y="-436228"/>
            <a:ext cx="14666763" cy="10237378"/>
          </a:xfrm>
          <a:prstGeom prst="rect"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Freeform 2"/>
          <p:cNvSpPr/>
          <p:nvPr/>
        </p:nvSpPr>
        <p:spPr>
          <a:xfrm rot="0" flipH="1" flipV="0">
            <a:off x="0" y="0"/>
            <a:ext cx="18288000" cy="10287000"/>
          </a:xfrm>
          <a:custGeom>
            <a:avLst/>
            <a:ah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 l="0" t="-9259" r="0" b="-9259"/>
            </a:stretch>
          </a:blipFill>
        </p:spPr>
      </p:sp>
      <p:pic>
        <p:nvPicPr>
          <p:cNvPr id="2097159" name=""/>
          <p:cNvPicPr>
            <a:picLocks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 rot="0">
            <a:off x="4858" y="0"/>
            <a:ext cx="18278283" cy="10287000"/>
          </a:xfrm>
          <a:prstGeom prst="rect"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2" name="Freeform 2"/>
          <p:cNvSpPr/>
          <p:nvPr/>
        </p:nvSpPr>
        <p:spPr>
          <a:xfrm rot="0" flipH="1" flipV="0">
            <a:off x="0" y="0"/>
            <a:ext cx="18288000" cy="10287000"/>
          </a:xfrm>
          <a:custGeom>
            <a:avLst/>
            <a:ah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 l="0" t="-9259" r="0" b="-9259"/>
            </a:stretch>
          </a:blipFill>
        </p:spPr>
      </p:sp>
      <p:sp>
        <p:nvSpPr>
          <p:cNvPr id="1048653" name="TextBox 11"/>
          <p:cNvSpPr txBox="1"/>
          <p:nvPr/>
        </p:nvSpPr>
        <p:spPr>
          <a:xfrm rot="0">
            <a:off x="1474858" y="608993"/>
            <a:ext cx="9531060" cy="784225"/>
          </a:xfrm>
          <a:prstGeom prst="rect"/>
        </p:spPr>
        <p:txBody>
          <a:bodyPr anchor="t" bIns="0" lIns="0" rIns="0" rtlCol="0" tIns="0">
            <a:spAutoFit/>
          </a:bodyPr>
          <a:lstStyle>
            <a:defPPr>
              <a:defRPr lang="en-US"/>
            </a:defPPr>
            <a:lvl1pPr algn="l" defTabSz="914400" eaLnBrk="1" hangingPunct="1" latinLnBrk="0" marL="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6200"/>
              </a:lnSpc>
            </a:pPr>
            <a:r>
              <a:rPr altLang="en-US"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9</a:t>
            </a:r>
            <a:r>
              <a:rPr altLang="en-US"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-</a:t>
            </a:r>
            <a:r>
              <a:rPr altLang="en-US"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 </a:t>
            </a:r>
            <a:r>
              <a:rPr altLang="en-US"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E</a:t>
            </a:r>
            <a:r>
              <a:rPr altLang="en-US"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m</a:t>
            </a:r>
            <a:r>
              <a:rPr altLang="en-US"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a</a:t>
            </a:r>
            <a:r>
              <a:rPr altLang="en-US"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i</a:t>
            </a:r>
            <a:r>
              <a:rPr altLang="en-US"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l</a:t>
            </a:r>
            <a:r>
              <a:rPr altLang="en-US"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 </a:t>
            </a:r>
            <a:r>
              <a:rPr altLang="en-US"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i</a:t>
            </a:r>
            <a:r>
              <a:rPr altLang="en-US"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n</a:t>
            </a:r>
            <a:r>
              <a:rPr altLang="en-US"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f</a:t>
            </a:r>
            <a:r>
              <a:rPr altLang="en-US"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r</a:t>
            </a:r>
            <a:r>
              <a:rPr altLang="en-US"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a</a:t>
            </a:r>
            <a:r>
              <a:rPr altLang="en-US"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s</a:t>
            </a:r>
            <a:r>
              <a:rPr altLang="en-US"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tructure </a:t>
            </a:r>
            <a:endParaRPr altLang="en-US" lang="zh-CN"/>
          </a:p>
        </p:txBody>
      </p:sp>
      <p:sp>
        <p:nvSpPr>
          <p:cNvPr id="1048654" name="TextBox 12"/>
          <p:cNvSpPr txBox="1"/>
          <p:nvPr/>
        </p:nvSpPr>
        <p:spPr>
          <a:xfrm rot="0">
            <a:off x="2614759" y="1791685"/>
            <a:ext cx="15152542" cy="3291840"/>
          </a:xfrm>
          <a:prstGeom prst="rect"/>
        </p:spPr>
        <p:txBody>
          <a:bodyPr anchor="t" bIns="0" lIns="0" rIns="0" rtlCol="0" tIns="0">
            <a:spAutoFit/>
          </a:bodyPr>
          <a:lstStyle>
            <a:defPPr>
              <a:defRPr lang="en-US"/>
            </a:defPPr>
            <a:lvl1pPr algn="l" defTabSz="914400" eaLnBrk="1" hangingPunct="1" latinLnBrk="0" marL="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4320"/>
              </a:lnSpc>
            </a:pPr>
            <a:r>
              <a:rPr altLang="en-US" sz="3146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Email server setup</a:t>
            </a:r>
            <a:endParaRPr altLang="en-US" lang="zh-CN"/>
          </a:p>
          <a:p>
            <a:pPr algn="l">
              <a:lnSpc>
                <a:spcPts val="4320"/>
              </a:lnSpc>
            </a:pPr>
            <a:r>
              <a:rPr altLang="en-US" sz="3146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· Domain: mybank.com</a:t>
            </a:r>
            <a:endParaRPr altLang="en-US" lang="zh-CN"/>
          </a:p>
          <a:p>
            <a:pPr algn="l">
              <a:lnSpc>
                <a:spcPts val="4320"/>
              </a:lnSpc>
            </a:pPr>
            <a:r>
              <a:rPr altLang="en-US" sz="3146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· Administrative Accounts:</a:t>
            </a:r>
            <a:endParaRPr altLang="en-US" lang="zh-CN"/>
          </a:p>
          <a:p>
            <a:pPr algn="l">
              <a:lnSpc>
                <a:spcPts val="4320"/>
              </a:lnSpc>
            </a:pPr>
            <a:r>
              <a:rPr altLang="en-US" sz="3146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· admin@mybank.com</a:t>
            </a:r>
            <a:endParaRPr altLang="en-US" lang="zh-CN"/>
          </a:p>
          <a:p>
            <a:pPr algn="l">
              <a:lnSpc>
                <a:spcPts val="4320"/>
              </a:lnSpc>
            </a:pPr>
            <a:r>
              <a:rPr altLang="en-US" sz="3146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· security@mybank.com</a:t>
            </a:r>
            <a:endParaRPr altLang="en-US" lang="zh-CN"/>
          </a:p>
          <a:p>
            <a:pPr algn="l">
              <a:lnSpc>
                <a:spcPts val="4320"/>
              </a:lnSpc>
            </a:pPr>
            <a:r>
              <a:rPr altLang="en-US" sz="3146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· </a:t>
            </a:r>
            <a:endParaRPr altLang="en-US" lang="zh-CN"/>
          </a:p>
        </p:txBody>
      </p:sp>
      <p:pic>
        <p:nvPicPr>
          <p:cNvPr id="2097160" name=""/>
          <p:cNvPicPr>
            <a:picLocks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 rot="0">
            <a:off x="7597469" y="1873940"/>
            <a:ext cx="10169831" cy="8223511"/>
          </a:xfrm>
          <a:prstGeom prst="rect"/>
        </p:spPr>
      </p:pic>
      <p:pic>
        <p:nvPicPr>
          <p:cNvPr id="2097161" name=""/>
          <p:cNvPicPr>
            <a:picLocks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 rot="0">
            <a:off x="10191029" y="1468753"/>
            <a:ext cx="7330935" cy="8414611"/>
          </a:xfrm>
          <a:prstGeom prst="rect"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5" name="Freeform 2"/>
          <p:cNvSpPr/>
          <p:nvPr/>
        </p:nvSpPr>
        <p:spPr>
          <a:xfrm rot="0" flipH="1" flipV="0">
            <a:off x="-924518" y="0"/>
            <a:ext cx="19273341" cy="10287000"/>
          </a:xfrm>
          <a:custGeom>
            <a:avLst/>
            <a:ah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 l="0" t="-9259" r="0" b="-9259"/>
            </a:stretch>
          </a:blipFill>
        </p:spPr>
      </p:sp>
      <p:sp>
        <p:nvSpPr>
          <p:cNvPr id="1048656" name="TextBox 11"/>
          <p:cNvSpPr txBox="1"/>
          <p:nvPr/>
        </p:nvSpPr>
        <p:spPr>
          <a:xfrm rot="0">
            <a:off x="1474858" y="608993"/>
            <a:ext cx="9531060" cy="784225"/>
          </a:xfrm>
          <a:prstGeom prst="rect"/>
        </p:spPr>
        <p:txBody>
          <a:bodyPr anchor="t" bIns="0" lIns="0" rIns="0" rtlCol="0" tIns="0">
            <a:spAutoFit/>
          </a:bodyPr>
          <a:lstStyle>
            <a:defPPr>
              <a:defRPr lang="en-US"/>
            </a:defPPr>
            <a:lvl1pPr algn="l" defTabSz="914400" eaLnBrk="1" hangingPunct="1" latinLnBrk="0" marL="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6200"/>
              </a:lnSpc>
            </a:pPr>
            <a:r>
              <a:rPr altLang="en-US"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1</a:t>
            </a:r>
            <a:r>
              <a:rPr altLang="en-US"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0</a:t>
            </a:r>
            <a:r>
              <a:rPr altLang="en-US"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-</a:t>
            </a:r>
            <a:r>
              <a:rPr altLang="en-US"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 </a:t>
            </a:r>
            <a:r>
              <a:rPr altLang="en-US"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w</a:t>
            </a:r>
            <a:r>
              <a:rPr altLang="en-US"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i</a:t>
            </a:r>
            <a:r>
              <a:rPr altLang="en-US"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r</a:t>
            </a:r>
            <a:r>
              <a:rPr altLang="en-US"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e</a:t>
            </a:r>
            <a:r>
              <a:rPr altLang="en-US"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l</a:t>
            </a:r>
            <a:r>
              <a:rPr altLang="en-US"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ess </a:t>
            </a:r>
            <a:r>
              <a:rPr altLang="en-US"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i</a:t>
            </a:r>
            <a:r>
              <a:rPr altLang="en-US"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n</a:t>
            </a:r>
            <a:r>
              <a:rPr altLang="en-US"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f</a:t>
            </a:r>
            <a:r>
              <a:rPr altLang="en-US"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r</a:t>
            </a:r>
            <a:r>
              <a:rPr altLang="en-US"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a</a:t>
            </a:r>
            <a:r>
              <a:rPr altLang="en-US"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structure </a:t>
            </a:r>
            <a:endParaRPr altLang="en-US" lang="zh-CN"/>
          </a:p>
        </p:txBody>
      </p:sp>
      <p:sp>
        <p:nvSpPr>
          <p:cNvPr id="1048657" name="TextBox 12"/>
          <p:cNvSpPr txBox="1"/>
          <p:nvPr/>
        </p:nvSpPr>
        <p:spPr>
          <a:xfrm rot="0">
            <a:off x="1135880" y="1980923"/>
            <a:ext cx="15152542" cy="4389120"/>
          </a:xfrm>
          <a:prstGeom prst="rect"/>
        </p:spPr>
        <p:txBody>
          <a:bodyPr anchor="t" bIns="0" lIns="0" rIns="0" rtlCol="0" tIns="0">
            <a:spAutoFit/>
          </a:bodyPr>
          <a:lstStyle>
            <a:defPPr>
              <a:defRPr lang="en-US"/>
            </a:defPPr>
            <a:lvl1pPr algn="l" defTabSz="914400" eaLnBrk="1" hangingPunct="1" latinLnBrk="0" marL="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4320"/>
              </a:lnSpc>
            </a:pPr>
            <a:r>
              <a:rPr altLang="en-US" sz="3146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SSID: MyBankSecure</a:t>
            </a:r>
            <a:endParaRPr altLang="en-US" lang="zh-CN"/>
          </a:p>
          <a:p>
            <a:pPr algn="l">
              <a:lnSpc>
                <a:spcPts val="4320"/>
              </a:lnSpc>
            </a:pPr>
            <a:r>
              <a:rPr altLang="en-US" sz="3146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· Authentication: WPA2-PSK</a:t>
            </a:r>
            <a:endParaRPr altLang="en-US" lang="zh-CN"/>
          </a:p>
          <a:p>
            <a:pPr algn="l">
              <a:lnSpc>
                <a:spcPts val="4320"/>
              </a:lnSpc>
            </a:pPr>
            <a:r>
              <a:rPr altLang="en-US" sz="3146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· Connected Devices:</a:t>
            </a:r>
            <a:endParaRPr altLang="en-US" lang="zh-CN"/>
          </a:p>
          <a:p>
            <a:pPr algn="l">
              <a:lnSpc>
                <a:spcPts val="4320"/>
              </a:lnSpc>
            </a:pPr>
            <a:r>
              <a:rPr altLang="en-US" sz="3146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· Tablets</a:t>
            </a:r>
            <a:endParaRPr altLang="en-US" lang="zh-CN"/>
          </a:p>
          <a:p>
            <a:pPr algn="l">
              <a:lnSpc>
                <a:spcPts val="4320"/>
              </a:lnSpc>
            </a:pPr>
            <a:r>
              <a:rPr altLang="en-US" sz="3146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· Smartphones</a:t>
            </a:r>
            <a:endParaRPr altLang="en-US" lang="zh-CN"/>
          </a:p>
          <a:p>
            <a:pPr algn="l">
              <a:lnSpc>
                <a:spcPts val="4320"/>
              </a:lnSpc>
            </a:pPr>
            <a:r>
              <a:rPr altLang="en-US" sz="3146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· Laptops</a:t>
            </a:r>
            <a:endParaRPr altLang="en-US" lang="zh-CN"/>
          </a:p>
          <a:p>
            <a:pPr algn="l">
              <a:lnSpc>
                <a:spcPts val="4320"/>
              </a:lnSpc>
            </a:pPr>
            <a:r>
              <a:rPr altLang="en-US" sz="3146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· DHCP enabled for automatic IP</a:t>
            </a:r>
            <a:endParaRPr altLang="en-US" lang="zh-CN"/>
          </a:p>
          <a:p>
            <a:pPr algn="l">
              <a:lnSpc>
                <a:spcPts val="4320"/>
              </a:lnSpc>
            </a:pPr>
            <a:r>
              <a:rPr altLang="en-US" sz="3146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altLang="en-US" sz="3146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altLang="en-US" sz="3146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altLang="en-US" sz="3146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altLang="en-US" sz="3146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</a:t>
            </a:r>
            <a:r>
              <a:rPr altLang="en-US" sz="3146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endParaRPr altLang="en-US" lang="zh-CN"/>
          </a:p>
        </p:txBody>
      </p:sp>
      <p:pic>
        <p:nvPicPr>
          <p:cNvPr id="2097162" name=""/>
          <p:cNvPicPr>
            <a:picLocks/>
          </p:cNvPicPr>
          <p:nvPr/>
        </p:nvPicPr>
        <p:blipFill>
          <a:blip xmlns:r="http://schemas.openxmlformats.org/officeDocument/2006/relationships" r:embed="rId2"/>
          <a:srcRect l="0" t="5225" r="0" b="15123"/>
          <a:stretch>
            <a:fillRect/>
          </a:stretch>
        </p:blipFill>
        <p:spPr>
          <a:xfrm rot="0">
            <a:off x="7535794" y="2118890"/>
            <a:ext cx="9411922" cy="7442437"/>
          </a:xfrm>
          <a:prstGeom prst="rect"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8" name="Freeform 2"/>
          <p:cNvSpPr/>
          <p:nvPr/>
        </p:nvSpPr>
        <p:spPr>
          <a:xfrm rot="0" flipH="1" flipV="0">
            <a:off x="0" y="0"/>
            <a:ext cx="18288000" cy="10287000"/>
          </a:xfrm>
          <a:custGeom>
            <a:avLst/>
            <a:ah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 l="0" t="-9259" r="0" b="-9259"/>
            </a:stretch>
          </a:blipFill>
        </p:spPr>
        <p:txBody>
          <a:bodyPr/>
          <a:p>
            <a:r>
              <a:rPr altLang="en-US" lang="zh-CN"/>
              <a:t>
</a:t>
            </a:r>
            <a:endParaRPr altLang="en-US" lang="zh-CN"/>
          </a:p>
        </p:txBody>
      </p:sp>
      <p:sp>
        <p:nvSpPr>
          <p:cNvPr id="1048659" name="TextBox 11"/>
          <p:cNvSpPr txBox="1"/>
          <p:nvPr/>
        </p:nvSpPr>
        <p:spPr>
          <a:xfrm rot="0">
            <a:off x="1474858" y="608993"/>
            <a:ext cx="9531060" cy="784225"/>
          </a:xfrm>
          <a:prstGeom prst="rect"/>
        </p:spPr>
        <p:txBody>
          <a:bodyPr anchor="t" bIns="0" lIns="0" rIns="0" rtlCol="0" tIns="0">
            <a:spAutoFit/>
          </a:bodyPr>
          <a:lstStyle>
            <a:defPPr>
              <a:defRPr lang="en-US"/>
            </a:defPPr>
            <a:lvl1pPr algn="l" defTabSz="914400" eaLnBrk="1" hangingPunct="1" latinLnBrk="0" marL="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6200"/>
              </a:lnSpc>
            </a:pPr>
            <a:r>
              <a:rPr altLang="en-US"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1</a:t>
            </a:r>
            <a:r>
              <a:rPr altLang="en-US"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1</a:t>
            </a:r>
            <a:r>
              <a:rPr altLang="en-US"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-</a:t>
            </a:r>
            <a:r>
              <a:rPr altLang="en-US"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Security Features</a:t>
            </a:r>
            <a:endParaRPr altLang="en-US" lang="zh-CN"/>
          </a:p>
        </p:txBody>
      </p:sp>
      <p:sp>
        <p:nvSpPr>
          <p:cNvPr id="1048660" name="TextBox 12"/>
          <p:cNvSpPr txBox="1"/>
          <p:nvPr/>
        </p:nvSpPr>
        <p:spPr>
          <a:xfrm rot="0">
            <a:off x="1166489" y="1393218"/>
            <a:ext cx="15152542" cy="8229601"/>
          </a:xfrm>
          <a:prstGeom prst="rect"/>
        </p:spPr>
        <p:txBody>
          <a:bodyPr anchor="t" bIns="0" lIns="0" rIns="0" rtlCol="0" tIns="0">
            <a:spAutoFit/>
          </a:bodyPr>
          <a:lstStyle>
            <a:defPPr>
              <a:defRPr lang="en-US"/>
            </a:defPPr>
            <a:lvl1pPr algn="l" defTabSz="914400" eaLnBrk="1" hangingPunct="1" latinLnBrk="0" marL="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4320"/>
              </a:lnSpc>
            </a:pPr>
            <a:r>
              <a:rPr altLang="en-US" sz="3146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Device: Cisco ASA 5505</a:t>
            </a:r>
            <a:endParaRPr altLang="en-US" lang="zh-CN"/>
          </a:p>
          <a:p>
            <a:pPr algn="l">
              <a:lnSpc>
                <a:spcPts val="4320"/>
              </a:lnSpc>
            </a:pPr>
            <a:r>
              <a:rPr altLang="en-US" sz="3146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· Outside Interface: 200.1.1.2</a:t>
            </a:r>
            <a:endParaRPr altLang="en-US" lang="zh-CN"/>
          </a:p>
          <a:p>
            <a:pPr algn="l">
              <a:lnSpc>
                <a:spcPts val="4320"/>
              </a:lnSpc>
            </a:pPr>
            <a:r>
              <a:rPr altLang="en-US" sz="3146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· Default Route: 200.1.1.1</a:t>
            </a:r>
            <a:endParaRPr altLang="en-US" lang="zh-CN"/>
          </a:p>
          <a:p>
            <a:pPr algn="l">
              <a:lnSpc>
                <a:spcPts val="4320"/>
              </a:lnSpc>
            </a:pPr>
            <a:r>
              <a:rPr altLang="en-US" sz="3146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· Security Features:</a:t>
            </a:r>
            <a:endParaRPr altLang="en-US" lang="zh-CN"/>
          </a:p>
          <a:p>
            <a:pPr algn="l">
              <a:lnSpc>
                <a:spcPts val="4320"/>
              </a:lnSpc>
            </a:pPr>
            <a:r>
              <a:rPr altLang="en-US" sz="3146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· Access Control Lists (ACLs)</a:t>
            </a:r>
            <a:endParaRPr altLang="en-US" lang="zh-CN"/>
          </a:p>
          <a:p>
            <a:pPr algn="l">
              <a:lnSpc>
                <a:spcPts val="4320"/>
              </a:lnSpc>
            </a:pPr>
            <a:r>
              <a:rPr altLang="en-US" sz="3146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· Traffic Filtering</a:t>
            </a:r>
            <a:endParaRPr altLang="en-US" lang="zh-CN"/>
          </a:p>
          <a:p>
            <a:pPr algn="l">
              <a:lnSpc>
                <a:spcPts val="4320"/>
              </a:lnSpc>
            </a:pPr>
            <a:r>
              <a:rPr altLang="en-US" sz="3146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· NAT (Network Address Translation)</a:t>
            </a:r>
            <a:endParaRPr altLang="en-US" lang="zh-CN"/>
          </a:p>
          <a:p>
            <a:pPr algn="l">
              <a:lnSpc>
                <a:spcPts val="4320"/>
              </a:lnSpc>
            </a:pPr>
            <a:r>
              <a:rPr altLang="en-US" sz="3146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· Perimeter Security</a:t>
            </a:r>
            <a:endParaRPr altLang="en-US" lang="zh-CN"/>
          </a:p>
          <a:p>
            <a:pPr algn="l">
              <a:lnSpc>
                <a:spcPts val="4320"/>
              </a:lnSpc>
            </a:pPr>
            <a:r>
              <a:rPr altLang="en-US" sz="3146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WPA2 Wireless Security</a:t>
            </a:r>
            <a:endParaRPr altLang="en-US" lang="zh-CN"/>
          </a:p>
          <a:p>
            <a:pPr algn="l">
              <a:lnSpc>
                <a:spcPts val="4320"/>
              </a:lnSpc>
            </a:pPr>
            <a:r>
              <a:rPr altLang="en-US" sz="3146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Syslog Logging</a:t>
            </a:r>
            <a:endParaRPr altLang="en-US" lang="zh-CN"/>
          </a:p>
          <a:p>
            <a:pPr algn="l">
              <a:lnSpc>
                <a:spcPts val="4320"/>
              </a:lnSpc>
            </a:pPr>
            <a:r>
              <a:rPr altLang="en-US" sz="3146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NTP Time Synchronization</a:t>
            </a:r>
            <a:r>
              <a:rPr altLang="en-US" sz="3146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altLang="en-US" lang="zh-CN"/>
          </a:p>
          <a:p>
            <a:pPr algn="l">
              <a:lnSpc>
                <a:spcPts val="4320"/>
              </a:lnSpc>
            </a:pPr>
            <a:r>
              <a:rPr altLang="en-US" sz="3146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ATM access controlled using ACL.</a:t>
            </a:r>
            <a:endParaRPr altLang="en-US" lang="zh-CN"/>
          </a:p>
          <a:p>
            <a:pPr algn="l">
              <a:lnSpc>
                <a:spcPts val="4320"/>
              </a:lnSpc>
            </a:pPr>
            <a:r>
              <a:rPr altLang="en-US" sz="3146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Unauthorized traffic is blocked.</a:t>
            </a:r>
            <a:endParaRPr altLang="en-US" lang="zh-CN"/>
          </a:p>
          <a:p>
            <a:pPr algn="l">
              <a:lnSpc>
                <a:spcPts val="4320"/>
              </a:lnSpc>
            </a:pPr>
            <a:r>
              <a:rPr altLang="en-US" sz="3146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Secure communication with the central banking server.</a:t>
            </a:r>
            <a:endParaRPr altLang="en-US" lang="zh-CN"/>
          </a:p>
          <a:p>
            <a:pPr algn="l">
              <a:lnSpc>
                <a:spcPts val="4320"/>
              </a:lnSpc>
            </a:pPr>
            <a:r>
              <a:rPr altLang="en-US" sz="3146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Centralized transaction processing.</a:t>
            </a:r>
            <a:endParaRPr altLang="en-US" lang="zh-CN"/>
          </a:p>
        </p:txBody>
      </p:sp>
      <p:pic>
        <p:nvPicPr>
          <p:cNvPr id="2097163" name=""/>
          <p:cNvPicPr>
            <a:picLocks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 rot="0">
            <a:off x="8285622" y="1393218"/>
            <a:ext cx="8033410" cy="8212747"/>
          </a:xfrm>
          <a:prstGeom prst="rect"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1" name="Freeform 2"/>
          <p:cNvSpPr/>
          <p:nvPr/>
        </p:nvSpPr>
        <p:spPr>
          <a:xfrm rot="0" flipH="1" flipV="0">
            <a:off x="0" y="0"/>
            <a:ext cx="18288000" cy="10287000"/>
          </a:xfrm>
          <a:custGeom>
            <a:avLst/>
            <a:ah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 l="0" t="-9259" r="0" b="-9259"/>
            </a:stretch>
          </a:blipFill>
        </p:spPr>
        <p:txBody>
          <a:bodyPr/>
          <a:p>
            <a:r>
              <a:rPr altLang="en-US" lang="zh-CN"/>
              <a:t>
</a:t>
            </a:r>
            <a:endParaRPr altLang="en-US" lang="zh-CN"/>
          </a:p>
        </p:txBody>
      </p:sp>
      <p:sp>
        <p:nvSpPr>
          <p:cNvPr id="1048662" name="TextBox 11"/>
          <p:cNvSpPr txBox="1"/>
          <p:nvPr/>
        </p:nvSpPr>
        <p:spPr>
          <a:xfrm rot="0">
            <a:off x="1474858" y="608993"/>
            <a:ext cx="9531060" cy="787400"/>
          </a:xfrm>
          <a:prstGeom prst="rect"/>
        </p:spPr>
        <p:txBody>
          <a:bodyPr anchor="t" bIns="0" lIns="0" rIns="0" rtlCol="0" tIns="0">
            <a:spAutoFit/>
          </a:bodyPr>
          <a:lstStyle>
            <a:defPPr>
              <a:defRPr lang="en-US"/>
            </a:defPPr>
            <a:lvl1pPr algn="l" defTabSz="914400" eaLnBrk="1" hangingPunct="1" latinLnBrk="0" marL="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6200"/>
              </a:lnSpc>
            </a:pPr>
            <a:r>
              <a:rPr altLang="en-US"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1</a:t>
            </a:r>
            <a:r>
              <a:rPr altLang="en-US"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2</a:t>
            </a:r>
            <a:r>
              <a:rPr altLang="en-US"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-</a:t>
            </a:r>
            <a:r>
              <a:rPr altLang="en-US"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D</a:t>
            </a:r>
            <a:r>
              <a:rPr altLang="en-US"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y</a:t>
            </a:r>
            <a:r>
              <a:rPr altLang="en-US"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n</a:t>
            </a:r>
            <a:r>
              <a:rPr altLang="en-US"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a</a:t>
            </a:r>
            <a:r>
              <a:rPr altLang="en-US"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m</a:t>
            </a:r>
            <a:r>
              <a:rPr altLang="en-US"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i</a:t>
            </a:r>
            <a:r>
              <a:rPr altLang="en-US"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c</a:t>
            </a:r>
            <a:r>
              <a:rPr altLang="en-US"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 </a:t>
            </a:r>
            <a:r>
              <a:rPr altLang="en-US"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R</a:t>
            </a:r>
            <a:r>
              <a:rPr altLang="en-US"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o</a:t>
            </a:r>
            <a:r>
              <a:rPr altLang="en-US"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u</a:t>
            </a:r>
            <a:r>
              <a:rPr altLang="en-US"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t</a:t>
            </a:r>
            <a:r>
              <a:rPr altLang="en-US"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ing </a:t>
            </a:r>
            <a:r>
              <a:rPr altLang="en-US"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u</a:t>
            </a:r>
            <a:r>
              <a:rPr altLang="en-US"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s</a:t>
            </a:r>
            <a:r>
              <a:rPr altLang="en-US"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i</a:t>
            </a:r>
            <a:r>
              <a:rPr altLang="en-US"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n</a:t>
            </a:r>
            <a:r>
              <a:rPr altLang="en-US"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g</a:t>
            </a:r>
            <a:r>
              <a:rPr altLang="en-US"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 </a:t>
            </a:r>
            <a:r>
              <a:rPr altLang="en-US"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Eigpr </a:t>
            </a:r>
            <a:endParaRPr altLang="en-US" lang="zh-CN"/>
          </a:p>
        </p:txBody>
      </p:sp>
      <p:sp>
        <p:nvSpPr>
          <p:cNvPr id="1048663" name="TextBox 12"/>
          <p:cNvSpPr txBox="1"/>
          <p:nvPr/>
        </p:nvSpPr>
        <p:spPr>
          <a:xfrm rot="0">
            <a:off x="1135880" y="1980923"/>
            <a:ext cx="15152542" cy="5486401"/>
          </a:xfrm>
          <a:prstGeom prst="rect"/>
        </p:spPr>
        <p:txBody>
          <a:bodyPr anchor="t" bIns="0" lIns="0" rIns="0" rtlCol="0" tIns="0">
            <a:spAutoFit/>
          </a:bodyPr>
          <a:lstStyle>
            <a:defPPr>
              <a:defRPr lang="en-US"/>
            </a:defPPr>
            <a:lvl1pPr algn="l" defTabSz="914400" eaLnBrk="1" hangingPunct="1" latinLnBrk="0" marL="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4320"/>
              </a:lnSpc>
            </a:pPr>
            <a:r>
              <a:rPr altLang="en-US" sz="3146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Enhanced Interior Gateway Routing Protocol (EIGRP)</a:t>
            </a:r>
            <a:endParaRPr altLang="en-US" lang="zh-CN"/>
          </a:p>
          <a:p>
            <a:pPr algn="l">
              <a:lnSpc>
                <a:spcPts val="4320"/>
              </a:lnSpc>
            </a:pPr>
            <a:r>
              <a:rPr altLang="en-US" sz="3146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Autonomous System Number</a:t>
            </a:r>
            <a:r>
              <a:rPr altLang="en-US" sz="3146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altLang="en-US" sz="3146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r>
              <a:rPr altLang="en-US" sz="3146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altLang="en-US" sz="3146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endParaRPr altLang="en-US" lang="zh-CN"/>
          </a:p>
          <a:p>
            <a:pPr algn="l">
              <a:lnSpc>
                <a:spcPts val="4320"/>
              </a:lnSpc>
            </a:pPr>
            <a:r>
              <a:rPr altLang="en-US" sz="3146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This project uses EIGRP as the primary routing protocol to establish communication among all seven branches.</a:t>
            </a:r>
            <a:endParaRPr altLang="en-US" lang="zh-CN"/>
          </a:p>
          <a:p>
            <a:pPr algn="l">
              <a:lnSpc>
                <a:spcPts val="4320"/>
              </a:lnSpc>
            </a:pPr>
            <a:r>
              <a:rPr altLang="en-US" sz="3146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EIGRP was selected because it provides:</a:t>
            </a:r>
            <a:endParaRPr altLang="en-US" lang="zh-CN"/>
          </a:p>
          <a:p>
            <a:pPr algn="l">
              <a:lnSpc>
                <a:spcPts val="4320"/>
              </a:lnSpc>
            </a:pPr>
            <a:r>
              <a:rPr altLang="en-US" sz="3146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✔ Fast Convergence</a:t>
            </a:r>
            <a:endParaRPr altLang="en-US" lang="zh-CN"/>
          </a:p>
          <a:p>
            <a:pPr algn="l">
              <a:lnSpc>
                <a:spcPts val="4320"/>
              </a:lnSpc>
            </a:pPr>
            <a:r>
              <a:rPr altLang="en-US" sz="3146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✔ Reduced Network Downtime</a:t>
            </a:r>
            <a:endParaRPr altLang="en-US" lang="zh-CN"/>
          </a:p>
          <a:p>
            <a:pPr algn="l">
              <a:lnSpc>
                <a:spcPts val="4320"/>
              </a:lnSpc>
            </a:pPr>
            <a:r>
              <a:rPr altLang="en-US" sz="3146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✔ Efficient Bandwidth Utilization</a:t>
            </a:r>
            <a:endParaRPr altLang="en-US" lang="zh-CN"/>
          </a:p>
          <a:p>
            <a:pPr algn="l">
              <a:lnSpc>
                <a:spcPts val="4320"/>
              </a:lnSpc>
            </a:pPr>
            <a:r>
              <a:rPr altLang="en-US" sz="3146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✔ Support for Large Enterprise Networks</a:t>
            </a:r>
            <a:endParaRPr altLang="en-US" lang="zh-CN"/>
          </a:p>
          <a:p>
            <a:pPr algn="l">
              <a:lnSpc>
                <a:spcPts val="4320"/>
              </a:lnSpc>
            </a:pPr>
            <a:r>
              <a:rPr altLang="en-US" sz="3146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✔ Automatic Route Learning</a:t>
            </a:r>
            <a:endParaRPr altLang="en-US" lang="zh-C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4" name="Freeform 2"/>
          <p:cNvSpPr/>
          <p:nvPr/>
        </p:nvSpPr>
        <p:spPr>
          <a:xfrm rot="0" flipH="1" flipV="0">
            <a:off x="0" y="0"/>
            <a:ext cx="18288000" cy="10287000"/>
          </a:xfrm>
          <a:custGeom>
            <a:avLst/>
            <a:ah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 l="0" t="-9259" r="0" b="-9259"/>
            </a:stretch>
          </a:blipFill>
        </p:spPr>
      </p:sp>
      <p:pic>
        <p:nvPicPr>
          <p:cNvPr id="2097164" name=""/>
          <p:cNvPicPr>
            <a:picLocks/>
          </p:cNvPicPr>
          <p:nvPr/>
        </p:nvPicPr>
        <p:blipFill>
          <a:blip xmlns:r="http://schemas.openxmlformats.org/officeDocument/2006/relationships" r:embed="rId2"/>
          <a:srcRect l="0" t="5377" r="0" b="6385"/>
          <a:stretch>
            <a:fillRect/>
          </a:stretch>
        </p:blipFill>
        <p:spPr>
          <a:xfrm rot="0">
            <a:off x="758189" y="553134"/>
            <a:ext cx="16835491" cy="9233003"/>
          </a:xfrm>
          <a:prstGeom prst="rect"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5" name="Freeform 2"/>
          <p:cNvSpPr/>
          <p:nvPr/>
        </p:nvSpPr>
        <p:spPr>
          <a:xfrm rot="0" flipH="1" flipV="0">
            <a:off x="0" y="0"/>
            <a:ext cx="18288000" cy="10287000"/>
          </a:xfrm>
          <a:custGeom>
            <a:avLst/>
            <a:ah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 l="0" t="-9259" r="0" b="-9259"/>
            </a:stretch>
          </a:blipFill>
        </p:spPr>
      </p:sp>
      <p:pic>
        <p:nvPicPr>
          <p:cNvPr id="2097165" name=""/>
          <p:cNvPicPr>
            <a:picLocks/>
          </p:cNvPicPr>
          <p:nvPr/>
        </p:nvPicPr>
        <p:blipFill>
          <a:blip xmlns:r="http://schemas.openxmlformats.org/officeDocument/2006/relationships" r:embed="rId2"/>
          <a:srcRect l="0" t="0" r="29227" b="10586"/>
          <a:stretch>
            <a:fillRect/>
          </a:stretch>
        </p:blipFill>
        <p:spPr>
          <a:xfrm rot="0">
            <a:off x="120785" y="1088982"/>
            <a:ext cx="9221995" cy="8305975"/>
          </a:xfrm>
          <a:prstGeom prst="rect"/>
        </p:spPr>
      </p:pic>
      <p:pic>
        <p:nvPicPr>
          <p:cNvPr id="2097166" name=""/>
          <p:cNvPicPr>
            <a:picLocks/>
          </p:cNvPicPr>
          <p:nvPr/>
        </p:nvPicPr>
        <p:blipFill>
          <a:blip xmlns:r="http://schemas.openxmlformats.org/officeDocument/2006/relationships" r:embed="rId3"/>
          <a:srcRect l="0" t="7623" r="0" b="15354"/>
          <a:stretch>
            <a:fillRect/>
          </a:stretch>
        </p:blipFill>
        <p:spPr>
          <a:xfrm rot="0">
            <a:off x="9700880" y="681719"/>
            <a:ext cx="7816821" cy="8713238"/>
          </a:xfrm>
          <a:prstGeom prst="rect"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6" name="Freeform 2"/>
          <p:cNvSpPr/>
          <p:nvPr/>
        </p:nvSpPr>
        <p:spPr>
          <a:xfrm rot="0" flipH="1" flipV="0">
            <a:off x="0" y="0"/>
            <a:ext cx="18288000" cy="10287000"/>
          </a:xfrm>
          <a:custGeom>
            <a:avLst/>
            <a:ah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 l="0" t="-9259" r="0" b="-9259"/>
            </a:stretch>
          </a:blipFill>
        </p:spPr>
      </p:sp>
      <p:sp>
        <p:nvSpPr>
          <p:cNvPr id="1048667" name="TextBox 11"/>
          <p:cNvSpPr txBox="1"/>
          <p:nvPr/>
        </p:nvSpPr>
        <p:spPr>
          <a:xfrm rot="0">
            <a:off x="1474858" y="608993"/>
            <a:ext cx="9531060" cy="784225"/>
          </a:xfrm>
          <a:prstGeom prst="rect"/>
        </p:spPr>
        <p:txBody>
          <a:bodyPr anchor="t" bIns="0" lIns="0" rIns="0" rtlCol="0" tIns="0">
            <a:spAutoFit/>
          </a:bodyPr>
          <a:lstStyle>
            <a:defPPr>
              <a:defRPr lang="en-US"/>
            </a:defPPr>
            <a:lvl1pPr algn="l" defTabSz="914400" eaLnBrk="1" hangingPunct="1" latinLnBrk="0" marL="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6200"/>
              </a:lnSpc>
            </a:pPr>
            <a:r>
              <a:rPr altLang="en-US"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1</a:t>
            </a:r>
            <a:r>
              <a:rPr altLang="en-US"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3</a:t>
            </a:r>
            <a:r>
              <a:rPr altLang="en-US"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-</a:t>
            </a:r>
            <a:r>
              <a:rPr altLang="en-US"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 </a:t>
            </a:r>
            <a:r>
              <a:rPr altLang="en-US"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A</a:t>
            </a:r>
            <a:r>
              <a:rPr altLang="en-US"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d</a:t>
            </a:r>
            <a:r>
              <a:rPr altLang="en-US"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ministrative Dashboard</a:t>
            </a:r>
            <a:endParaRPr altLang="en-US" lang="zh-CN"/>
          </a:p>
        </p:txBody>
      </p:sp>
      <p:sp>
        <p:nvSpPr>
          <p:cNvPr id="1048668" name="TextBox 12"/>
          <p:cNvSpPr txBox="1"/>
          <p:nvPr/>
        </p:nvSpPr>
        <p:spPr>
          <a:xfrm rot="0">
            <a:off x="1135880" y="1980923"/>
            <a:ext cx="15152542" cy="4389120"/>
          </a:xfrm>
          <a:prstGeom prst="rect"/>
        </p:spPr>
        <p:txBody>
          <a:bodyPr anchor="t" bIns="0" lIns="0" rIns="0" rtlCol="0" tIns="0">
            <a:spAutoFit/>
          </a:bodyPr>
          <a:lstStyle>
            <a:defPPr>
              <a:defRPr lang="en-US"/>
            </a:defPPr>
            <a:lvl1pPr algn="l" defTabSz="914400" eaLnBrk="1" hangingPunct="1" latinLnBrk="0" marL="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4320"/>
              </a:lnSpc>
            </a:pPr>
            <a:r>
              <a:rPr altLang="en-US" sz="3146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custom web-based dashboard named MyBank Dashboard has been developed.</a:t>
            </a:r>
            <a:endParaRPr altLang="en-US" lang="zh-CN"/>
          </a:p>
          <a:p>
            <a:pPr algn="l">
              <a:lnSpc>
                <a:spcPts val="4320"/>
              </a:lnSpc>
            </a:pPr>
            <a:r>
              <a:rPr altLang="en-US" sz="3146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Features:</a:t>
            </a:r>
            <a:endParaRPr altLang="en-US" lang="zh-CN"/>
          </a:p>
          <a:p>
            <a:pPr algn="l">
              <a:lnSpc>
                <a:spcPts val="4320"/>
              </a:lnSpc>
            </a:pPr>
            <a:r>
              <a:rPr altLang="en-US" sz="3146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Branch Status Monitoring</a:t>
            </a:r>
            <a:endParaRPr altLang="en-US" lang="zh-CN"/>
          </a:p>
          <a:p>
            <a:pPr algn="l">
              <a:lnSpc>
                <a:spcPts val="4320"/>
              </a:lnSpc>
            </a:pPr>
            <a:r>
              <a:rPr altLang="en-US" sz="3146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Firewall Status</a:t>
            </a:r>
            <a:endParaRPr altLang="en-US" lang="zh-CN"/>
          </a:p>
          <a:p>
            <a:pPr algn="l">
              <a:lnSpc>
                <a:spcPts val="4320"/>
              </a:lnSpc>
            </a:pPr>
            <a:r>
              <a:rPr altLang="en-US" sz="3146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DNS Status</a:t>
            </a:r>
            <a:endParaRPr altLang="en-US" lang="zh-CN"/>
          </a:p>
          <a:p>
            <a:pPr algn="l">
              <a:lnSpc>
                <a:spcPts val="4320"/>
              </a:lnSpc>
            </a:pPr>
            <a:r>
              <a:rPr altLang="en-US" sz="3146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Email Status</a:t>
            </a:r>
            <a:endParaRPr altLang="en-US" lang="zh-CN"/>
          </a:p>
          <a:p>
            <a:pPr algn="l">
              <a:lnSpc>
                <a:spcPts val="4320"/>
              </a:lnSpc>
            </a:pPr>
            <a:r>
              <a:rPr altLang="en-US" sz="3146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Wireless Device Information</a:t>
            </a:r>
            <a:endParaRPr altLang="en-US" lang="zh-CN"/>
          </a:p>
          <a:p>
            <a:pPr algn="l">
              <a:lnSpc>
                <a:spcPts val="4320"/>
              </a:lnSpc>
            </a:pPr>
            <a:r>
              <a:rPr altLang="en-US" sz="3146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Administrative Controls</a:t>
            </a:r>
            <a:endParaRPr altLang="en-US" lang="zh-CN"/>
          </a:p>
        </p:txBody>
      </p:sp>
      <p:pic>
        <p:nvPicPr>
          <p:cNvPr id="2097167" name=""/>
          <p:cNvPicPr>
            <a:picLocks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 rot="0">
            <a:off x="7652328" y="2642576"/>
            <a:ext cx="10093545" cy="6642179"/>
          </a:xfrm>
          <a:prstGeom prst="rect"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9" name="Freeform 2"/>
          <p:cNvSpPr/>
          <p:nvPr/>
        </p:nvSpPr>
        <p:spPr>
          <a:xfrm rot="0" flipH="1" flipV="0">
            <a:off x="0" y="0"/>
            <a:ext cx="18288000" cy="10287000"/>
          </a:xfrm>
          <a:custGeom>
            <a:avLst/>
            <a:ah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 l="0" t="-9259" r="0" b="-9259"/>
            </a:stretch>
          </a:blipFill>
        </p:spPr>
      </p:sp>
      <p:grpSp>
        <p:nvGrpSpPr>
          <p:cNvPr id="80" name="Group 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id="1048670" name="Freeform 4"/>
            <p:cNvSpPr/>
            <p:nvPr/>
          </p:nvSpPr>
          <p:spPr>
            <a:xfrm rot="0" flipH="0" flipV="0">
              <a:off x="0" y="0"/>
              <a:ext cx="4816592" cy="2709333"/>
            </a:xfrm>
            <a:custGeom>
              <a:avLst/>
              <a:ah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1E44">
                <a:alpha val="74902"/>
              </a:srgbClr>
            </a:solidFill>
          </p:spPr>
        </p:sp>
        <p:sp>
          <p:nvSpPr>
            <p:cNvPr id="1048671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81" name="Group 6"/>
          <p:cNvGrpSpPr/>
          <p:nvPr/>
        </p:nvGrpSpPr>
        <p:grpSpPr>
          <a:xfrm rot="0">
            <a:off x="-3127161" y="-3136810"/>
            <a:ext cx="13821787" cy="10723916"/>
            <a:chOff x="0" y="0"/>
            <a:chExt cx="18429049" cy="14298555"/>
          </a:xfrm>
        </p:grpSpPr>
        <p:sp>
          <p:nvSpPr>
            <p:cNvPr id="1048672" name="Freeform 7"/>
            <p:cNvSpPr/>
            <p:nvPr/>
          </p:nvSpPr>
          <p:spPr>
            <a:xfrm rot="0" flipH="0" flipV="0">
              <a:off x="0" y="582555"/>
              <a:ext cx="13716000" cy="13716000"/>
            </a:xfrm>
            <a:custGeom>
              <a:avLst/>
              <a:ah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xmlns:r="http://schemas.openxmlformats.org/officeDocument/2006/relationships" r:embed="rId2">
                <a:alphaModFix amt="40000"/>
              </a:blip>
              <a:stretch>
                <a:fillRect l="0" t="0" r="0" b="0"/>
              </a:stretch>
            </a:blipFill>
          </p:spPr>
        </p:sp>
        <p:sp>
          <p:nvSpPr>
            <p:cNvPr id="1048673" name="Freeform 8"/>
            <p:cNvSpPr/>
            <p:nvPr/>
          </p:nvSpPr>
          <p:spPr>
            <a:xfrm rot="0" flipH="0" flipV="0">
              <a:off x="4713049" y="0"/>
              <a:ext cx="13716000" cy="13716000"/>
            </a:xfrm>
            <a:custGeom>
              <a:avLst/>
              <a:ah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xmlns:r="http://schemas.openxmlformats.org/officeDocument/2006/relationships" r:embed="rId3">
                <a:alphaModFix amt="40000"/>
              </a:blip>
              <a:stretch>
                <a:fillRect l="0" t="0" r="0" b="0"/>
              </a:stretch>
            </a:blipFill>
          </p:spPr>
        </p:sp>
      </p:grpSp>
      <p:sp>
        <p:nvSpPr>
          <p:cNvPr id="1048674" name="TextBox 11"/>
          <p:cNvSpPr txBox="1"/>
          <p:nvPr/>
        </p:nvSpPr>
        <p:spPr>
          <a:xfrm rot="0">
            <a:off x="407626" y="1620646"/>
            <a:ext cx="16025378" cy="1645921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4320"/>
              </a:lnSpc>
            </a:pPr>
            <a:r>
              <a:rPr sz="3146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 this phase </a:t>
            </a:r>
            <a:r>
              <a:rPr sz="3146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sz="3146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sz="3146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</a:t>
            </a:r>
            <a:r>
              <a:rPr sz="3146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sz="3146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rified the network's functionality, connectivity, performance, and security. Testing ensures all devices communicate correctly, configurations are accurate, and the network meets performance and security standards before deployment.</a:t>
            </a:r>
            <a:endParaRPr altLang="en-US" lang="zh-CN"/>
          </a:p>
        </p:txBody>
      </p:sp>
      <p:sp>
        <p:nvSpPr>
          <p:cNvPr id="1048675" name="TextBox 12"/>
          <p:cNvSpPr txBox="1"/>
          <p:nvPr/>
        </p:nvSpPr>
        <p:spPr>
          <a:xfrm rot="0">
            <a:off x="1102734" y="215945"/>
            <a:ext cx="11936752" cy="787400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6200"/>
              </a:lnSpc>
            </a:pP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1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4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-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 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N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e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t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w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o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r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k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 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t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e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s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t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i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n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g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 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a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n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d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 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v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e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r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i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f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i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c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a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t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i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o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n</a:t>
            </a:r>
            <a:endParaRPr altLang="en-US" lang="zh-CN"/>
          </a:p>
        </p:txBody>
      </p:sp>
      <p:pic>
        <p:nvPicPr>
          <p:cNvPr id="2097168" name=""/>
          <p:cNvPicPr>
            <a:picLocks/>
          </p:cNvPicPr>
          <p:nvPr/>
        </p:nvPicPr>
        <p:blipFill>
          <a:blip xmlns:r="http://schemas.openxmlformats.org/officeDocument/2006/relationships" r:embed="rId4"/>
          <a:srcRect l="0" t="12356" r="21949" b="4986"/>
          <a:stretch>
            <a:fillRect/>
          </a:stretch>
        </p:blipFill>
        <p:spPr>
          <a:xfrm rot="0">
            <a:off x="2006974" y="3595659"/>
            <a:ext cx="14274047" cy="6362249"/>
          </a:xfrm>
          <a:prstGeom prst="rect"/>
        </p:spPr>
      </p:pic>
    </p:spTree>
  </p:cSld>
  <p:clrMapOvr>
    <a:masterClrMapping/>
  </p:clrMapOvr>
  <p:transition spd="slow">
    <p:push dir="l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6" name="Freeform 2"/>
          <p:cNvSpPr/>
          <p:nvPr/>
        </p:nvSpPr>
        <p:spPr>
          <a:xfrm rot="0" flipH="1" flipV="0">
            <a:off x="0" y="0"/>
            <a:ext cx="18288000" cy="10287000"/>
          </a:xfrm>
          <a:custGeom>
            <a:avLst/>
            <a:ah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 l="0" t="-9259" r="0" b="-9259"/>
            </a:stretch>
          </a:blipFill>
        </p:spPr>
        <p:txBody>
          <a:bodyPr/>
          <a:p>
            <a:r>
              <a:rPr altLang="en-US" lang="zh-CN"/>
              <a:t>
</a:t>
            </a:r>
            <a:endParaRPr altLang="en-US" lang="zh-CN"/>
          </a:p>
        </p:txBody>
      </p:sp>
      <p:sp>
        <p:nvSpPr>
          <p:cNvPr id="1048677" name="TextBox 12"/>
          <p:cNvSpPr txBox="1"/>
          <p:nvPr/>
        </p:nvSpPr>
        <p:spPr>
          <a:xfrm rot="0">
            <a:off x="1102734" y="215945"/>
            <a:ext cx="11936752" cy="787400"/>
          </a:xfrm>
          <a:prstGeom prst="rect"/>
        </p:spPr>
        <p:txBody>
          <a:bodyPr anchor="t" bIns="0" lIns="0" rIns="0" rtlCol="0" tIns="0">
            <a:spAutoFit/>
          </a:bodyPr>
          <a:lstStyle>
            <a:defPPr>
              <a:defRPr lang="en-US"/>
            </a:defPPr>
            <a:lvl1pPr algn="l" defTabSz="914400" eaLnBrk="1" hangingPunct="1" latinLnBrk="0" marL="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6200"/>
              </a:lnSpc>
            </a:pP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1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5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-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 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V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L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A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N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 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Implementation </a:t>
            </a:r>
            <a:endParaRPr altLang="en-US" lang="zh-CN"/>
          </a:p>
        </p:txBody>
      </p:sp>
      <p:sp>
        <p:nvSpPr>
          <p:cNvPr id="1048678" name="TextBox 11"/>
          <p:cNvSpPr txBox="1"/>
          <p:nvPr/>
        </p:nvSpPr>
        <p:spPr>
          <a:xfrm rot="0">
            <a:off x="407626" y="1620646"/>
            <a:ext cx="16025378" cy="1645920"/>
          </a:xfrm>
          <a:prstGeom prst="rect"/>
        </p:spPr>
        <p:txBody>
          <a:bodyPr anchor="t" bIns="0" lIns="0" rIns="0" rtlCol="0" tIns="0">
            <a:spAutoFit/>
          </a:bodyPr>
          <a:lstStyle>
            <a:defPPr>
              <a:defRPr lang="en-US"/>
            </a:defPPr>
            <a:lvl1pPr algn="l" defTabSz="914400" eaLnBrk="1" hangingPunct="1" latinLnBrk="0" marL="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4320"/>
              </a:lnSpc>
            </a:pPr>
            <a:r>
              <a:rPr altLang="en-US" sz="3146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Virtual Local Area Network (VLAN) is a logical network that divides a physical switch into multiple broadcast domains. VLAN improves security, reduces broadcast traffic, and makes network management easier.</a:t>
            </a:r>
            <a:endParaRPr altLang="en-US" lang="zh-CN"/>
          </a:p>
        </p:txBody>
      </p:sp>
      <p:pic>
        <p:nvPicPr>
          <p:cNvPr id="2097169" name=""/>
          <p:cNvPicPr>
            <a:picLocks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 rot="0">
            <a:off x="1239098" y="4627142"/>
            <a:ext cx="15193906" cy="5247101"/>
          </a:xfrm>
          <a:prstGeom prst="rect"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9" name="Freeform 2"/>
          <p:cNvSpPr/>
          <p:nvPr/>
        </p:nvSpPr>
        <p:spPr>
          <a:xfrm rot="0" flipH="1" flipV="0">
            <a:off x="0" y="0"/>
            <a:ext cx="18288000" cy="10287000"/>
          </a:xfrm>
          <a:custGeom>
            <a:avLst/>
            <a:ah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 l="0" t="-9259" r="0" b="-9259"/>
            </a:stretch>
          </a:blipFill>
        </p:spPr>
      </p:sp>
      <p:sp>
        <p:nvSpPr>
          <p:cNvPr id="1048680" name="TextBox 12"/>
          <p:cNvSpPr txBox="1"/>
          <p:nvPr/>
        </p:nvSpPr>
        <p:spPr>
          <a:xfrm rot="0">
            <a:off x="1102734" y="215945"/>
            <a:ext cx="11936752" cy="787400"/>
          </a:xfrm>
          <a:prstGeom prst="rect"/>
        </p:spPr>
        <p:txBody>
          <a:bodyPr anchor="t" bIns="0" lIns="0" rIns="0" rtlCol="0" tIns="0">
            <a:spAutoFit/>
          </a:bodyPr>
          <a:lstStyle>
            <a:defPPr>
              <a:defRPr lang="en-US"/>
            </a:defPPr>
            <a:lvl1pPr algn="l" defTabSz="914400" eaLnBrk="1" hangingPunct="1" latinLnBrk="0" marL="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6200"/>
              </a:lnSpc>
            </a:pPr>
            <a:r>
              <a:rPr altLang="en-US"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Example (Branch 2)</a:t>
            </a:r>
            <a:endParaRPr altLang="en-US" lang="zh-CN"/>
          </a:p>
        </p:txBody>
      </p:sp>
      <p:sp>
        <p:nvSpPr>
          <p:cNvPr id="1048681" name=""/>
          <p:cNvSpPr txBox="1"/>
          <p:nvPr/>
        </p:nvSpPr>
        <p:spPr>
          <a:xfrm>
            <a:off x="1102733" y="1978138"/>
            <a:ext cx="7465100" cy="510540"/>
          </a:xfrm>
          <a:prstGeom prst="rect"/>
        </p:spPr>
        <p:txBody>
          <a:bodyPr rtlCol="0" wrap="square">
            <a:spAutoFit/>
          </a:bodyPr>
          <a:p>
            <a:r>
              <a:rPr sz="2800" lang="en-US">
                <a:solidFill>
                  <a:srgbClr val="FFFFFF"/>
                </a:solidFill>
              </a:rPr>
              <a:t>VLAN Configuration Using Cisco CLI</a:t>
            </a:r>
            <a:endParaRPr sz="2800" lang="en-GB">
              <a:solidFill>
                <a:srgbClr val="FFFFFF"/>
              </a:solidFill>
            </a:endParaRPr>
          </a:p>
        </p:txBody>
      </p:sp>
      <p:pic>
        <p:nvPicPr>
          <p:cNvPr id="2097170" name=""/>
          <p:cNvPicPr>
            <a:picLocks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 rot="0">
            <a:off x="1558585" y="2929423"/>
            <a:ext cx="14018495" cy="6380949"/>
          </a:xfrm>
          <a:prstGeom prst="rect"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2" name="Freeform 2"/>
          <p:cNvSpPr/>
          <p:nvPr/>
        </p:nvSpPr>
        <p:spPr>
          <a:xfrm rot="0" flipH="1" flipV="0">
            <a:off x="0" y="0"/>
            <a:ext cx="18288000" cy="10287000"/>
          </a:xfrm>
          <a:custGeom>
            <a:avLst/>
            <a:ah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 l="0" t="-9259" r="0" b="-9259"/>
            </a:stretch>
          </a:blipFill>
        </p:spPr>
      </p:sp>
      <p:sp>
        <p:nvSpPr>
          <p:cNvPr id="1048683" name=""/>
          <p:cNvSpPr txBox="1"/>
          <p:nvPr/>
        </p:nvSpPr>
        <p:spPr>
          <a:xfrm>
            <a:off x="782956" y="1113866"/>
            <a:ext cx="4000000" cy="510540"/>
          </a:xfrm>
          <a:prstGeom prst="rect"/>
        </p:spPr>
        <p:txBody>
          <a:bodyPr rtlCol="0" wrap="square">
            <a:spAutoFit/>
          </a:bodyPr>
          <a:p>
            <a:r>
              <a:rPr sz="2800" lang="en-GB">
                <a:solidFill>
                  <a:srgbClr val="FFFFFF"/>
                </a:solidFill>
              </a:rPr>
              <a:t>VLAN Verification</a:t>
            </a:r>
            <a:endParaRPr sz="2800" lang="en-GB">
              <a:solidFill>
                <a:srgbClr val="FFFFFF"/>
              </a:solidFill>
            </a:endParaRPr>
          </a:p>
        </p:txBody>
      </p:sp>
      <p:pic>
        <p:nvPicPr>
          <p:cNvPr id="2097171" name=""/>
          <p:cNvPicPr>
            <a:picLocks/>
          </p:cNvPicPr>
          <p:nvPr/>
        </p:nvPicPr>
        <p:blipFill>
          <a:blip xmlns:r="http://schemas.openxmlformats.org/officeDocument/2006/relationships" r:embed="rId2"/>
          <a:srcRect l="0" t="3285" r="0" b="8406"/>
          <a:stretch>
            <a:fillRect/>
          </a:stretch>
        </p:blipFill>
        <p:spPr>
          <a:xfrm>
            <a:off x="1235487" y="2351667"/>
            <a:ext cx="12601038" cy="4912555"/>
          </a:xfrm>
          <a:prstGeom prst="rect"/>
        </p:spPr>
      </p:pic>
      <p:sp>
        <p:nvSpPr>
          <p:cNvPr id="1048684" name=""/>
          <p:cNvSpPr txBox="1"/>
          <p:nvPr/>
        </p:nvSpPr>
        <p:spPr>
          <a:xfrm>
            <a:off x="782955" y="8310791"/>
            <a:ext cx="15780031" cy="929640"/>
          </a:xfrm>
          <a:prstGeom prst="rect"/>
        </p:spPr>
        <p:txBody>
          <a:bodyPr rtlCol="0" wrap="square">
            <a:spAutoFit/>
          </a:bodyPr>
          <a:p>
            <a:r>
              <a:rPr sz="2800" lang="en-US">
                <a:solidFill>
                  <a:srgbClr val="FFFFFF"/>
                </a:solidFill>
              </a:rPr>
              <a:t>The VLAN configuration was verified using the show vlan brief command. The output confirms that all required ports are assigned to VLAN 20 successfully.</a:t>
            </a:r>
            <a:endParaRPr sz="2800" lang="en-GB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5" name="Freeform 2"/>
          <p:cNvSpPr/>
          <p:nvPr/>
        </p:nvSpPr>
        <p:spPr>
          <a:xfrm rot="0" flipH="1" flipV="0">
            <a:off x="0" y="0"/>
            <a:ext cx="18288000" cy="10287000"/>
          </a:xfrm>
          <a:custGeom>
            <a:avLst/>
            <a:ah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 l="0" t="-9259" r="0" b="-9259"/>
            </a:stretch>
          </a:blipFill>
        </p:spPr>
      </p:sp>
      <p:sp>
        <p:nvSpPr>
          <p:cNvPr id="1048686" name="TextBox 12"/>
          <p:cNvSpPr txBox="1"/>
          <p:nvPr/>
        </p:nvSpPr>
        <p:spPr>
          <a:xfrm rot="0">
            <a:off x="1102734" y="215945"/>
            <a:ext cx="11936752" cy="787400"/>
          </a:xfrm>
          <a:prstGeom prst="rect"/>
        </p:spPr>
        <p:txBody>
          <a:bodyPr anchor="t" bIns="0" lIns="0" rIns="0" rtlCol="0" tIns="0">
            <a:spAutoFit/>
          </a:bodyPr>
          <a:lstStyle>
            <a:defPPr>
              <a:defRPr lang="en-US"/>
            </a:defPPr>
            <a:lvl1pPr algn="l" defTabSz="914400" eaLnBrk="1" hangingPunct="1" latinLnBrk="0" marL="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6200"/>
              </a:lnSpc>
            </a:pP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1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6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-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 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S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u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b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n</a:t>
            </a:r>
            <a:r>
              <a:rPr sz="5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eting </a:t>
            </a:r>
            <a:endParaRPr altLang="en-US" lang="zh-CN"/>
          </a:p>
        </p:txBody>
      </p:sp>
      <p:sp>
        <p:nvSpPr>
          <p:cNvPr id="1048687" name=""/>
          <p:cNvSpPr txBox="1"/>
          <p:nvPr/>
        </p:nvSpPr>
        <p:spPr>
          <a:xfrm>
            <a:off x="697315" y="1268729"/>
            <a:ext cx="15780031" cy="2606041"/>
          </a:xfrm>
          <a:prstGeom prst="rect"/>
        </p:spPr>
        <p:txBody>
          <a:bodyPr rtlCol="0" wrap="square">
            <a:spAutoFit/>
          </a:bodyPr>
          <a:lstStyle>
            <a:defPPr>
              <a:defRPr lang="en-US"/>
            </a:defPPr>
            <a:lvl1pPr algn="l" defTabSz="914400" eaLnBrk="1" hangingPunct="1" latinLnBrk="0" marL="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800" lang="en-US">
                <a:solidFill>
                  <a:srgbClr val="FFFFFF"/>
                </a:solidFill>
                <a:latin typeface="Arial"/>
              </a:rPr>
              <a:t>What is Subnetting?</a:t>
            </a:r>
            <a:endParaRPr sz="2800" lang="en-GB">
              <a:solidFill>
                <a:srgbClr val="FFFFFF"/>
              </a:solidFill>
            </a:endParaRPr>
          </a:p>
          <a:p>
            <a:r>
              <a:rPr sz="2800" lang="en-US">
                <a:solidFill>
                  <a:srgbClr val="FFFFFF"/>
                </a:solidFill>
                <a:latin typeface="Arial"/>
              </a:rPr>
              <a:t>Subnetting is the process of dividing a large network into smaller logical networks called subnets. It improves network performance, security, and IP address management.</a:t>
            </a:r>
            <a:endParaRPr sz="2800" lang="en-GB">
              <a:solidFill>
                <a:srgbClr val="FFFFFF"/>
              </a:solidFill>
            </a:endParaRPr>
          </a:p>
          <a:p>
            <a:endParaRPr sz="2800" lang="en-GB">
              <a:solidFill>
                <a:srgbClr val="FFFFFF"/>
              </a:solidFill>
            </a:endParaRPr>
          </a:p>
          <a:p>
            <a:endParaRPr sz="2800" lang="en-GB">
              <a:solidFill>
                <a:srgbClr val="FFFFFF"/>
              </a:solidFill>
            </a:endParaRPr>
          </a:p>
          <a:p>
            <a:r>
              <a:rPr sz="2800" lang="en-US">
                <a:solidFill>
                  <a:srgbClr val="FFFFFF"/>
                </a:solidFill>
                <a:latin typeface="Arial"/>
              </a:rPr>
              <a:t>Where is Subnetting Used in My Project?</a:t>
            </a:r>
            <a:endParaRPr sz="2800" lang="en-GB">
              <a:solidFill>
                <a:srgbClr val="FFFFFF"/>
              </a:solidFill>
            </a:endParaRPr>
          </a:p>
        </p:txBody>
      </p:sp>
      <p:pic>
        <p:nvPicPr>
          <p:cNvPr id="2097172" name=""/>
          <p:cNvPicPr>
            <a:picLocks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 rot="21600000">
            <a:off x="1508152" y="4140154"/>
            <a:ext cx="14969194" cy="5414385"/>
          </a:xfrm>
          <a:prstGeom prst="rect"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8" name="Freeform 2"/>
          <p:cNvSpPr/>
          <p:nvPr/>
        </p:nvSpPr>
        <p:spPr>
          <a:xfrm rot="0" flipH="1" flipV="0">
            <a:off x="0" y="0"/>
            <a:ext cx="18288000" cy="10287000"/>
          </a:xfrm>
          <a:custGeom>
            <a:avLst/>
            <a:ah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 l="0" t="-9259" r="0" b="-9259"/>
            </a:stretch>
          </a:blipFill>
        </p:spPr>
      </p:sp>
      <p:sp>
        <p:nvSpPr>
          <p:cNvPr id="1048689" name=""/>
          <p:cNvSpPr txBox="1"/>
          <p:nvPr/>
        </p:nvSpPr>
        <p:spPr>
          <a:xfrm>
            <a:off x="697315" y="1268729"/>
            <a:ext cx="15780031" cy="8600439"/>
          </a:xfrm>
          <a:prstGeom prst="rect"/>
        </p:spPr>
        <p:txBody>
          <a:bodyPr rtlCol="0" wrap="square">
            <a:spAutoFit/>
          </a:bodyPr>
          <a:lstStyle>
            <a:defPPr>
              <a:defRPr lang="en-US"/>
            </a:defPPr>
            <a:lvl1pPr algn="l" defTabSz="914400" eaLnBrk="1" hangingPunct="1" latinLnBrk="0" marL="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b="1" sz="2800" lang="en-US">
                <a:solidFill>
                  <a:srgbClr val="FFFFFF"/>
                </a:solidFill>
                <a:latin typeface="Arial"/>
              </a:rPr>
              <a:t>Why Did I Use Subnetting</a:t>
            </a:r>
            <a:r>
              <a:rPr sz="2800" lang="en-US">
                <a:solidFill>
                  <a:srgbClr val="FFFFFF"/>
                </a:solidFill>
                <a:latin typeface="Arial"/>
              </a:rPr>
              <a:t>?</a:t>
            </a:r>
            <a:endParaRPr sz="2800" lang="en-GB">
              <a:solidFill>
                <a:srgbClr val="FFFFFF"/>
              </a:solidFill>
            </a:endParaRPr>
          </a:p>
          <a:p>
            <a:r>
              <a:rPr sz="2800" lang="en-US">
                <a:solidFill>
                  <a:srgbClr val="FFFFFF"/>
                </a:solidFill>
                <a:latin typeface="Arial"/>
              </a:rPr>
              <a:t>To give each branch its own network.</a:t>
            </a:r>
            <a:endParaRPr sz="2800" lang="en-GB">
              <a:solidFill>
                <a:srgbClr val="FFFFFF"/>
              </a:solidFill>
            </a:endParaRPr>
          </a:p>
          <a:p>
            <a:r>
              <a:rPr sz="2800" lang="en-US">
                <a:solidFill>
                  <a:srgbClr val="FFFFFF"/>
                </a:solidFill>
                <a:latin typeface="Arial"/>
              </a:rPr>
              <a:t>To reduce broadcast traffic.</a:t>
            </a:r>
            <a:endParaRPr sz="2800" lang="en-GB">
              <a:solidFill>
                <a:srgbClr val="FFFFFF"/>
              </a:solidFill>
            </a:endParaRPr>
          </a:p>
          <a:p>
            <a:r>
              <a:rPr sz="2800" lang="en-US">
                <a:solidFill>
                  <a:srgbClr val="FFFFFF"/>
                </a:solidFill>
                <a:latin typeface="Arial"/>
              </a:rPr>
              <a:t>To improve network performance.</a:t>
            </a:r>
            <a:endParaRPr sz="2800" lang="en-GB">
              <a:solidFill>
                <a:srgbClr val="FFFFFF"/>
              </a:solidFill>
            </a:endParaRPr>
          </a:p>
          <a:p>
            <a:r>
              <a:rPr sz="2800" lang="en-US">
                <a:solidFill>
                  <a:srgbClr val="FFFFFF"/>
                </a:solidFill>
                <a:latin typeface="Arial"/>
              </a:rPr>
              <a:t>To make routing easier using EIGRP.</a:t>
            </a:r>
            <a:endParaRPr sz="2800" lang="en-GB">
              <a:solidFill>
                <a:srgbClr val="FFFFFF"/>
              </a:solidFill>
            </a:endParaRPr>
          </a:p>
          <a:p>
            <a:r>
              <a:rPr sz="2800" lang="en-US">
                <a:solidFill>
                  <a:srgbClr val="FFFFFF"/>
                </a:solidFill>
                <a:latin typeface="Arial"/>
              </a:rPr>
              <a:t>To improve network security.</a:t>
            </a:r>
            <a:endParaRPr sz="2800" lang="en-GB">
              <a:solidFill>
                <a:srgbClr val="FFFFFF"/>
              </a:solidFill>
            </a:endParaRPr>
          </a:p>
          <a:p>
            <a:endParaRPr sz="2800" lang="en-GB">
              <a:solidFill>
                <a:srgbClr val="FFFFFF"/>
              </a:solidFill>
            </a:endParaRPr>
          </a:p>
          <a:p>
            <a:r>
              <a:rPr b="1" sz="3200" lang="en-US">
                <a:solidFill>
                  <a:srgbClr val="FFFFFF"/>
                </a:solidFill>
                <a:latin typeface="Arial"/>
              </a:rPr>
              <a:t>Why We Use Subnetting</a:t>
            </a:r>
            <a:endParaRPr b="1" sz="3200" lang="en-GB">
              <a:solidFill>
                <a:srgbClr val="FFFFFF"/>
              </a:solidFill>
            </a:endParaRPr>
          </a:p>
          <a:p>
            <a:r>
              <a:rPr sz="2800" lang="en-US">
                <a:solidFill>
                  <a:srgbClr val="FFFFFF"/>
                </a:solidFill>
                <a:latin typeface="Arial"/>
              </a:rPr>
              <a:t>Reduces network traffic.</a:t>
            </a:r>
            <a:endParaRPr sz="2800" lang="en-GB">
              <a:solidFill>
                <a:srgbClr val="FFFFFF"/>
              </a:solidFill>
            </a:endParaRPr>
          </a:p>
          <a:p>
            <a:r>
              <a:rPr sz="2800" lang="en-US">
                <a:solidFill>
                  <a:srgbClr val="FFFFFF"/>
                </a:solidFill>
                <a:latin typeface="Arial"/>
              </a:rPr>
              <a:t>Improves security.</a:t>
            </a:r>
            <a:endParaRPr sz="2800" lang="en-GB">
              <a:solidFill>
                <a:srgbClr val="FFFFFF"/>
              </a:solidFill>
            </a:endParaRPr>
          </a:p>
          <a:p>
            <a:r>
              <a:rPr sz="2800" lang="en-US">
                <a:solidFill>
                  <a:srgbClr val="FFFFFF"/>
                </a:solidFill>
                <a:latin typeface="Arial"/>
              </a:rPr>
              <a:t>Better IP address management.</a:t>
            </a:r>
            <a:endParaRPr sz="2800" lang="en-GB">
              <a:solidFill>
                <a:srgbClr val="FFFFFF"/>
              </a:solidFill>
            </a:endParaRPr>
          </a:p>
          <a:p>
            <a:r>
              <a:rPr sz="2800" lang="en-US">
                <a:solidFill>
                  <a:srgbClr val="FFFFFF"/>
                </a:solidFill>
                <a:latin typeface="Arial"/>
              </a:rPr>
              <a:t>Makes large networks easier to manage.</a:t>
            </a:r>
            <a:endParaRPr sz="2800" lang="en-GB">
              <a:solidFill>
                <a:srgbClr val="FFFFFF"/>
              </a:solidFill>
            </a:endParaRPr>
          </a:p>
          <a:p>
            <a:r>
              <a:rPr sz="2800" lang="en-US">
                <a:solidFill>
                  <a:srgbClr val="FFFFFF"/>
                </a:solidFill>
                <a:latin typeface="Arial"/>
              </a:rPr>
              <a:t>Limits broadcast domains.</a:t>
            </a:r>
            <a:endParaRPr sz="2800" lang="en-GB">
              <a:solidFill>
                <a:srgbClr val="FFFFFF"/>
              </a:solidFill>
            </a:endParaRPr>
          </a:p>
          <a:p>
            <a:endParaRPr sz="2800" lang="en-GB">
              <a:solidFill>
                <a:srgbClr val="FFFFFF"/>
              </a:solidFill>
            </a:endParaRPr>
          </a:p>
          <a:p>
            <a:r>
              <a:rPr b="1" sz="3200" lang="en-US">
                <a:solidFill>
                  <a:srgbClr val="FFFFFF"/>
                </a:solidFill>
                <a:latin typeface="Arial"/>
              </a:rPr>
              <a:t>Types of Subnetting</a:t>
            </a:r>
            <a:endParaRPr b="1" sz="3200" lang="en-GB">
              <a:solidFill>
                <a:srgbClr val="FFFFFF"/>
              </a:solidFill>
            </a:endParaRPr>
          </a:p>
          <a:p>
            <a:endParaRPr sz="2800" lang="en-GB">
              <a:solidFill>
                <a:srgbClr val="FFFFFF"/>
              </a:solidFill>
            </a:endParaRPr>
          </a:p>
          <a:p>
            <a:r>
              <a:rPr sz="2800" lang="en-US">
                <a:solidFill>
                  <a:srgbClr val="FFFFFF"/>
                </a:solidFill>
                <a:latin typeface="Arial"/>
              </a:rPr>
              <a:t>Fixed Length Subnet Mask (FLSM)</a:t>
            </a:r>
            <a:endParaRPr sz="2800" lang="en-GB">
              <a:solidFill>
                <a:srgbClr val="FFFFFF"/>
              </a:solidFill>
            </a:endParaRPr>
          </a:p>
          <a:p>
            <a:r>
              <a:rPr sz="2800" lang="en-US">
                <a:solidFill>
                  <a:srgbClr val="FFFFFF"/>
                </a:solidFill>
                <a:latin typeface="Arial"/>
              </a:rPr>
              <a:t>Variable Length Subnet Mask (VLSM)</a:t>
            </a:r>
            <a:endParaRPr sz="2800" lang="en-GB">
              <a:solidFill>
                <a:srgbClr val="FFFFFF"/>
              </a:solidFill>
            </a:endParaRPr>
          </a:p>
          <a:p>
            <a:r>
              <a:rPr sz="2800" lang="en-US">
                <a:solidFill>
                  <a:srgbClr val="FFFFFF"/>
                </a:solidFill>
                <a:latin typeface="Arial"/>
              </a:rPr>
              <a:t>Subnetting in My </a:t>
            </a:r>
            <a:r>
              <a:rPr sz="2800" lang="en-US">
                <a:solidFill>
                  <a:srgbClr val="FFFFFF"/>
                </a:solidFill>
                <a:latin typeface="Arial"/>
              </a:rPr>
              <a:t>B</a:t>
            </a:r>
            <a:r>
              <a:rPr sz="2800" lang="en-US">
                <a:solidFill>
                  <a:srgbClr val="FFFFFF"/>
                </a:solidFill>
                <a:latin typeface="Arial"/>
              </a:rPr>
              <a:t>a</a:t>
            </a:r>
            <a:r>
              <a:rPr sz="2800" lang="en-US">
                <a:solidFill>
                  <a:srgbClr val="FFFFFF"/>
                </a:solidFill>
                <a:latin typeface="Arial"/>
              </a:rPr>
              <a:t>n</a:t>
            </a:r>
            <a:r>
              <a:rPr sz="2800" lang="en-US">
                <a:solidFill>
                  <a:srgbClr val="FFFFFF"/>
                </a:solidFill>
                <a:latin typeface="Arial"/>
              </a:rPr>
              <a:t>k</a:t>
            </a:r>
            <a:r>
              <a:rPr sz="2800" lang="en-US">
                <a:solidFill>
                  <a:srgbClr val="FFFFFF"/>
                </a:solidFill>
                <a:latin typeface="Arial"/>
              </a:rPr>
              <a:t> Project</a:t>
            </a:r>
            <a:endParaRPr sz="2800" lang="en-GB">
              <a:solidFill>
                <a:srgbClr val="FFFFFF"/>
              </a:solidFill>
            </a:endParaRPr>
          </a:p>
          <a:p>
            <a:r>
              <a:rPr sz="2800" lang="en-US">
                <a:solidFill>
                  <a:srgbClr val="FFFFFF"/>
                </a:solidFill>
                <a:latin typeface="Arial"/>
              </a:rPr>
              <a:t>I used </a:t>
            </a:r>
            <a:r>
              <a:rPr sz="2800" lang="en-US">
                <a:solidFill>
                  <a:srgbClr val="FFFFFF"/>
                </a:solidFill>
                <a:latin typeface="Arial"/>
              </a:rPr>
              <a:t>F</a:t>
            </a:r>
            <a:r>
              <a:rPr sz="2800" lang="en-US">
                <a:solidFill>
                  <a:srgbClr val="FFFFFF"/>
                </a:solidFill>
                <a:latin typeface="Arial"/>
              </a:rPr>
              <a:t>L</a:t>
            </a:r>
            <a:r>
              <a:rPr sz="2800" lang="en-US">
                <a:solidFill>
                  <a:srgbClr val="FFFFFF"/>
                </a:solidFill>
                <a:latin typeface="Arial"/>
              </a:rPr>
              <a:t>SM subnetting because each branch has its own network.</a:t>
            </a:r>
            <a:endParaRPr sz="2800" lang="en-GB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0" name="Freeform 2"/>
          <p:cNvSpPr/>
          <p:nvPr/>
        </p:nvSpPr>
        <p:spPr>
          <a:xfrm rot="0" flipH="1" flipV="0">
            <a:off x="0" y="0"/>
            <a:ext cx="18288000" cy="10287000"/>
          </a:xfrm>
          <a:custGeom>
            <a:avLst/>
            <a:ah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 l="0" t="-9259" r="0" b="-9259"/>
            </a:stretch>
          </a:blipFill>
        </p:spPr>
      </p:sp>
      <p:grpSp>
        <p:nvGrpSpPr>
          <p:cNvPr id="88" name="Group 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id="1048691" name="Freeform 4"/>
            <p:cNvSpPr/>
            <p:nvPr/>
          </p:nvSpPr>
          <p:spPr>
            <a:xfrm rot="0" flipH="0" flipV="0">
              <a:off x="0" y="0"/>
              <a:ext cx="4816592" cy="2709333"/>
            </a:xfrm>
            <a:custGeom>
              <a:avLst/>
              <a:ah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1E44">
                <a:alpha val="74902"/>
              </a:srgbClr>
            </a:solidFill>
          </p:spPr>
        </p:sp>
        <p:sp>
          <p:nvSpPr>
            <p:cNvPr id="1048692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89" name="Group 6"/>
          <p:cNvGrpSpPr/>
          <p:nvPr/>
        </p:nvGrpSpPr>
        <p:grpSpPr>
          <a:xfrm rot="0">
            <a:off x="-3127161" y="-3136810"/>
            <a:ext cx="13821787" cy="10723916"/>
            <a:chOff x="0" y="0"/>
            <a:chExt cx="18429049" cy="14298555"/>
          </a:xfrm>
        </p:grpSpPr>
        <p:sp>
          <p:nvSpPr>
            <p:cNvPr id="1048693" name="Freeform 7"/>
            <p:cNvSpPr/>
            <p:nvPr/>
          </p:nvSpPr>
          <p:spPr>
            <a:xfrm rot="0" flipH="0" flipV="0">
              <a:off x="0" y="582555"/>
              <a:ext cx="13716000" cy="13716000"/>
            </a:xfrm>
            <a:custGeom>
              <a:avLst/>
              <a:ah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xmlns:r="http://schemas.openxmlformats.org/officeDocument/2006/relationships" r:embed="rId2">
                <a:alphaModFix amt="40000"/>
              </a:blip>
              <a:stretch>
                <a:fillRect l="0" t="0" r="0" b="0"/>
              </a:stretch>
            </a:blipFill>
          </p:spPr>
        </p:sp>
        <p:sp>
          <p:nvSpPr>
            <p:cNvPr id="1048694" name="Freeform 8"/>
            <p:cNvSpPr/>
            <p:nvPr/>
          </p:nvSpPr>
          <p:spPr>
            <a:xfrm rot="0" flipH="0" flipV="0">
              <a:off x="4713049" y="0"/>
              <a:ext cx="13716000" cy="13716000"/>
            </a:xfrm>
            <a:custGeom>
              <a:avLst/>
              <a:ah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xmlns:r="http://schemas.openxmlformats.org/officeDocument/2006/relationships" r:embed="rId3">
                <a:alphaModFix amt="40000"/>
              </a:blip>
              <a:stretch>
                <a:fillRect l="0" t="0" r="0" b="0"/>
              </a:stretch>
            </a:blipFill>
          </p:spPr>
        </p:sp>
      </p:grpSp>
      <p:sp>
        <p:nvSpPr>
          <p:cNvPr id="1048695" name="Freeform 9"/>
          <p:cNvSpPr/>
          <p:nvPr/>
        </p:nvSpPr>
        <p:spPr>
          <a:xfrm rot="0" flipH="0" flipV="0">
            <a:off x="5089757" y="5143500"/>
            <a:ext cx="8108486" cy="4561023"/>
          </a:xfrm>
          <a:custGeom>
            <a:avLst/>
            <a:ahLst/>
            <a:rect l="l" t="t" r="r" b="b"/>
            <a:pathLst>
              <a:path w="8108486" h="4561023">
                <a:moveTo>
                  <a:pt x="0" y="0"/>
                </a:moveTo>
                <a:lnTo>
                  <a:pt x="8108486" y="0"/>
                </a:lnTo>
                <a:lnTo>
                  <a:pt x="8108486" y="4561023"/>
                </a:lnTo>
                <a:lnTo>
                  <a:pt x="0" y="4561023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4"/>
            <a:stretch>
              <a:fillRect l="0" t="-9333" r="0" b="-9333"/>
            </a:stretch>
          </a:blipFill>
        </p:spPr>
      </p:sp>
      <p:sp>
        <p:nvSpPr>
          <p:cNvPr id="1048696" name="TextBox 10"/>
          <p:cNvSpPr txBox="1"/>
          <p:nvPr/>
        </p:nvSpPr>
        <p:spPr>
          <a:xfrm rot="0">
            <a:off x="797504" y="881216"/>
            <a:ext cx="8346496" cy="1125474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8928"/>
              </a:lnSpc>
            </a:pPr>
            <a:r>
              <a:rPr sz="72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1</a:t>
            </a:r>
            <a:r>
              <a:rPr sz="72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5</a:t>
            </a:r>
            <a:r>
              <a:rPr sz="72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-</a:t>
            </a:r>
            <a:r>
              <a:rPr sz="72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 </a:t>
            </a:r>
            <a:r>
              <a:rPr sz="72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S</a:t>
            </a:r>
            <a:r>
              <a:rPr sz="72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u</a:t>
            </a:r>
            <a:r>
              <a:rPr sz="72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m</a:t>
            </a:r>
            <a:r>
              <a:rPr sz="72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m</a:t>
            </a:r>
            <a:r>
              <a:rPr sz="72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a</a:t>
            </a:r>
            <a:r>
              <a:rPr sz="72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ry </a:t>
            </a:r>
            <a:endParaRPr altLang="en-US" lang="zh-CN"/>
          </a:p>
        </p:txBody>
      </p:sp>
      <p:sp>
        <p:nvSpPr>
          <p:cNvPr id="1048697" name="TextBox 11"/>
          <p:cNvSpPr txBox="1"/>
          <p:nvPr/>
        </p:nvSpPr>
        <p:spPr>
          <a:xfrm rot="0">
            <a:off x="797504" y="2697397"/>
            <a:ext cx="15048633" cy="2194560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4320"/>
              </a:lnSpc>
            </a:pPr>
            <a:r>
              <a:rPr sz="3146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This network infrastructure setup provides a highly scalable, secure, and efficient solution tailored to the bank's needs. It combines advanced routing,</a:t>
            </a:r>
            <a:r>
              <a:rPr sz="3146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secure wireless communication, and robust security measures to protect the integrity and availability of the network.</a:t>
            </a:r>
          </a:p>
        </p:txBody>
      </p:sp>
    </p:spTree>
  </p:cSld>
  <p:clrMapOvr>
    <a:masterClrMapping/>
  </p:clrMapOvr>
  <p:transition spd="slow">
    <p:push dir="l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8" name="Freeform 2"/>
          <p:cNvSpPr/>
          <p:nvPr/>
        </p:nvSpPr>
        <p:spPr>
          <a:xfrm rot="0" flipH="0" flipV="0">
            <a:off x="0" y="0"/>
            <a:ext cx="18288000" cy="10287000"/>
          </a:xfrm>
          <a:custGeom>
            <a:avLst/>
            <a:ah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 l="0" t="0" r="0" b="-33333"/>
            </a:stretch>
          </a:blipFill>
        </p:spPr>
      </p:sp>
      <p:sp>
        <p:nvSpPr>
          <p:cNvPr id="1048699" name="TextBox 3"/>
          <p:cNvSpPr txBox="1"/>
          <p:nvPr/>
        </p:nvSpPr>
        <p:spPr>
          <a:xfrm rot="0">
            <a:off x="3388933" y="2931160"/>
            <a:ext cx="11510133" cy="2204720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17360"/>
              </a:lnSpc>
            </a:pPr>
            <a:r>
              <a:rPr sz="140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Any Questions?</a:t>
            </a:r>
          </a:p>
        </p:txBody>
      </p:sp>
    </p:spTree>
  </p:cSld>
  <p:clrMapOvr>
    <a:masterClrMapping/>
  </p:clrMapOvr>
  <p:transition spd="slow">
    <p:push dir="l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0" name="Freeform 2"/>
          <p:cNvSpPr/>
          <p:nvPr/>
        </p:nvSpPr>
        <p:spPr>
          <a:xfrm rot="0" flipH="0" flipV="0">
            <a:off x="0" y="0"/>
            <a:ext cx="18288000" cy="10287000"/>
          </a:xfrm>
          <a:custGeom>
            <a:avLst/>
            <a:ah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 l="0" t="0" r="0" b="-33333"/>
            </a:stretch>
          </a:blipFill>
        </p:spPr>
      </p:sp>
      <p:sp>
        <p:nvSpPr>
          <p:cNvPr id="1048701" name="TextBox 3"/>
          <p:cNvSpPr txBox="1"/>
          <p:nvPr/>
        </p:nvSpPr>
        <p:spPr>
          <a:xfrm rot="0">
            <a:off x="4022779" y="3998976"/>
            <a:ext cx="10242442" cy="2267712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17856"/>
              </a:lnSpc>
            </a:pPr>
            <a:r>
              <a:rPr sz="14400" lang="en-US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Thank You</a:t>
            </a:r>
          </a:p>
        </p:txBody>
      </p: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Dark Blue Internet Technology Presentation</dc:title>
  <dc:creator>21061119AG</dc:creator>
  <dcterms:created xsi:type="dcterms:W3CDTF">2006-08-11T00:00:00Z</dcterms:created>
  <dcterms:modified xsi:type="dcterms:W3CDTF">2026-07-26T16:21:34Z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3a4c2bcbe5014cb2a79b2fdb1a0c15d7</vt:lpwstr>
  </property>
</Properties>
</file>